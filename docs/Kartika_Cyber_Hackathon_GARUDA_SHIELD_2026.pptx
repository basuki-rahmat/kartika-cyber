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110E"/>
    <a:srgbClr val="00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50" d="100"/>
          <a:sy n="50" d="100"/>
        </p:scale>
        <p:origin x="4190" y="146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3330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Perkenalkan tim dan tujuan. Tegaskan sejak awal bahwa semua target, event, status, serta metrik dalam demonstrasi adalah sintetis.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Ini adalah masalah yang menjadi inspirasi purwarupa, bukan klaim bahwa aplikasi sudah terhubung atau mengukur kondisi operasional TNI 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Tunjukkan hubungan tampilan: konsol membuat skenario dan profil penyerang, dashboard memperlihatkan deteksi, dampak pada situs dummy, dan tindak lanjutnya.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Semua langkah berlangsung di aplikasi lokal. Tidak ada trafik serangan atau probe yang dikirim ke target. Analisis AI tidak otomatis memulihkan — pemulihan selalu merupakan aksi eksplisit operator.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Kelima modul adalah konsep pertahanan berlapis. Jelaskan perbedaan antara deteksi, intelijen, respons, anomali, dan perlindungan data. Status operasional harus diverifikasi.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 langsung: buka peta, pilih endpoint; pindah ke konsol, pilih target, Automated Incident Response, dan profil asal penyerang (mis. Frankfurt·VPN); jalankan simulasi; kembali ke dashboard untuk membaca alert, mendengar alarm, dan melihat mode dampak situs dummy. Akhiri dengan Pulihkan situs/audit dan cetak laporan.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Jelaskan alasan pendekatan lokal: mudah dijalankan dan skenario dapat diulang tanpa ketergantungan jaringan. Analisis heuristik lokal tersedia; Groq opsional melalui API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Nyatakan batasan dengan jelas. Hasil lokasi sumber dan analisis bukan intelijen atau atribusi nyata. Prototipe tidak boleh dianggap layanan monitoring produksi.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Tutup dengan kelayakan pendekatan lokal, nilai demonstrasi, dan syarat sebelum integrasi nyata. Hindari menjanjikan kesiapan operasional.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Terima kasih. GARUDA SHIELD merupakan titik awal diskusi dan demonstrasi, bukan integrasi produksi.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206887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F64036C2-7178-46D7-956A-C9AEC91736A6}"/>
              </a:ext>
            </a:extLst>
          </p:cNvPr>
          <p:cNvGrpSpPr/>
          <p:nvPr/>
        </p:nvGrpSpPr>
        <p:grpSpPr>
          <a:xfrm>
            <a:off x="-15240" y="0"/>
            <a:ext cx="12207240" cy="6858000"/>
            <a:chOff x="-15240" y="0"/>
            <a:chExt cx="12207240" cy="685800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5648B748-A8A6-42CF-B271-E48BB8635BB5}"/>
                </a:ext>
              </a:extLst>
            </p:cNvPr>
            <p:cNvSpPr/>
            <p:nvPr/>
          </p:nvSpPr>
          <p:spPr>
            <a:xfrm>
              <a:off x="-15240" y="73152"/>
              <a:ext cx="12207240" cy="6784848"/>
            </a:xfrm>
            <a:prstGeom prst="rect">
              <a:avLst/>
            </a:prstGeom>
            <a:solidFill>
              <a:srgbClr val="07110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2" name="Rectangle 1"/>
            <p:cNvSpPr/>
            <p:nvPr/>
          </p:nvSpPr>
          <p:spPr>
            <a:xfrm>
              <a:off x="0" y="0"/>
              <a:ext cx="12191695" cy="73152"/>
            </a:xfrm>
            <a:prstGeom prst="rect">
              <a:avLst/>
            </a:prstGeom>
            <a:solidFill>
              <a:srgbClr val="E0B537"/>
            </a:solidFill>
            <a:ln>
              <a:solidFill>
                <a:srgbClr val="E0B53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3" name="Rectangle 2"/>
          <p:cNvSpPr/>
          <p:nvPr/>
        </p:nvSpPr>
        <p:spPr>
          <a:xfrm>
            <a:off x="502920" y="566928"/>
            <a:ext cx="54864" cy="5394960"/>
          </a:xfrm>
          <a:prstGeom prst="rect">
            <a:avLst/>
          </a:prstGeom>
          <a:solidFill>
            <a:srgbClr val="48BE6F"/>
          </a:solidFill>
          <a:ln>
            <a:solidFill>
              <a:srgbClr val="48BE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 flipV="1">
            <a:off x="0" y="6047138"/>
            <a:ext cx="12192000" cy="90949"/>
          </a:xfrm>
          <a:prstGeom prst="rect">
            <a:avLst/>
          </a:prstGeom>
          <a:solidFill>
            <a:srgbClr val="142C21"/>
          </a:solidFill>
          <a:ln>
            <a:solidFill>
              <a:srgbClr val="142C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7013A8A-3BF4-4578-B080-BD4B65BDDA92}"/>
              </a:ext>
            </a:extLst>
          </p:cNvPr>
          <p:cNvGrpSpPr/>
          <p:nvPr/>
        </p:nvGrpSpPr>
        <p:grpSpPr>
          <a:xfrm>
            <a:off x="7863840" y="1403101"/>
            <a:ext cx="3566160" cy="91440"/>
            <a:chOff x="7863840" y="964692"/>
            <a:chExt cx="3566160" cy="91440"/>
          </a:xfrm>
        </p:grpSpPr>
        <p:sp>
          <p:nvSpPr>
            <p:cNvPr id="5" name="Rectangle 4"/>
            <p:cNvSpPr/>
            <p:nvPr/>
          </p:nvSpPr>
          <p:spPr>
            <a:xfrm>
              <a:off x="7863840" y="1005840"/>
              <a:ext cx="3566160" cy="16459"/>
            </a:xfrm>
            <a:prstGeom prst="rect">
              <a:avLst/>
            </a:prstGeom>
            <a:solidFill>
              <a:srgbClr val="142C21"/>
            </a:solidFill>
            <a:ln>
              <a:solidFill>
                <a:srgbClr val="142C2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Oval 5"/>
            <p:cNvSpPr/>
            <p:nvPr/>
          </p:nvSpPr>
          <p:spPr>
            <a:xfrm>
              <a:off x="11292840" y="964692"/>
              <a:ext cx="91440" cy="91440"/>
            </a:xfrm>
            <a:prstGeom prst="ellipse">
              <a:avLst/>
            </a:prstGeom>
            <a:solidFill>
              <a:srgbClr val="E0B537"/>
            </a:solidFill>
            <a:ln>
              <a:solidFill>
                <a:srgbClr val="E0B53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2D52F60-BB92-4478-9B7D-79898679E0B4}"/>
              </a:ext>
            </a:extLst>
          </p:cNvPr>
          <p:cNvGrpSpPr/>
          <p:nvPr/>
        </p:nvGrpSpPr>
        <p:grpSpPr>
          <a:xfrm>
            <a:off x="7863840" y="2365528"/>
            <a:ext cx="3566160" cy="91440"/>
            <a:chOff x="7863840" y="1677924"/>
            <a:chExt cx="3566160" cy="91440"/>
          </a:xfrm>
        </p:grpSpPr>
        <p:sp>
          <p:nvSpPr>
            <p:cNvPr id="7" name="Rectangle 6"/>
            <p:cNvSpPr/>
            <p:nvPr/>
          </p:nvSpPr>
          <p:spPr>
            <a:xfrm>
              <a:off x="7863840" y="1719072"/>
              <a:ext cx="3566160" cy="16459"/>
            </a:xfrm>
            <a:prstGeom prst="rect">
              <a:avLst/>
            </a:prstGeom>
            <a:solidFill>
              <a:srgbClr val="142C21"/>
            </a:solidFill>
            <a:ln>
              <a:solidFill>
                <a:srgbClr val="142C2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Oval 7"/>
            <p:cNvSpPr/>
            <p:nvPr/>
          </p:nvSpPr>
          <p:spPr>
            <a:xfrm>
              <a:off x="11292840" y="1677924"/>
              <a:ext cx="91440" cy="91440"/>
            </a:xfrm>
            <a:prstGeom prst="ellipse">
              <a:avLst/>
            </a:prstGeom>
            <a:solidFill>
              <a:srgbClr val="48BE6F"/>
            </a:solidFill>
            <a:ln>
              <a:solidFill>
                <a:srgbClr val="48BE6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1A5252B-90D2-4319-A402-595C636C6668}"/>
              </a:ext>
            </a:extLst>
          </p:cNvPr>
          <p:cNvGrpSpPr/>
          <p:nvPr/>
        </p:nvGrpSpPr>
        <p:grpSpPr>
          <a:xfrm>
            <a:off x="7863840" y="3378415"/>
            <a:ext cx="3566160" cy="91440"/>
            <a:chOff x="7863840" y="2391156"/>
            <a:chExt cx="3566160" cy="91440"/>
          </a:xfrm>
        </p:grpSpPr>
        <p:sp>
          <p:nvSpPr>
            <p:cNvPr id="9" name="Rectangle 8"/>
            <p:cNvSpPr/>
            <p:nvPr/>
          </p:nvSpPr>
          <p:spPr>
            <a:xfrm>
              <a:off x="7863840" y="2432304"/>
              <a:ext cx="3566160" cy="16459"/>
            </a:xfrm>
            <a:prstGeom prst="rect">
              <a:avLst/>
            </a:prstGeom>
            <a:solidFill>
              <a:srgbClr val="142C21"/>
            </a:solidFill>
            <a:ln>
              <a:solidFill>
                <a:srgbClr val="142C2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Oval 9"/>
            <p:cNvSpPr/>
            <p:nvPr/>
          </p:nvSpPr>
          <p:spPr>
            <a:xfrm>
              <a:off x="11292840" y="2391156"/>
              <a:ext cx="91440" cy="91440"/>
            </a:xfrm>
            <a:prstGeom prst="ellipse">
              <a:avLst/>
            </a:prstGeom>
            <a:solidFill>
              <a:srgbClr val="E0B537"/>
            </a:solidFill>
            <a:ln>
              <a:solidFill>
                <a:srgbClr val="E0B53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64BA752-CF9F-45A7-BF0A-782A9F3D9AF8}"/>
              </a:ext>
            </a:extLst>
          </p:cNvPr>
          <p:cNvGrpSpPr/>
          <p:nvPr/>
        </p:nvGrpSpPr>
        <p:grpSpPr>
          <a:xfrm>
            <a:off x="7863840" y="4409238"/>
            <a:ext cx="3566160" cy="91440"/>
            <a:chOff x="7863840" y="3104388"/>
            <a:chExt cx="3566160" cy="91440"/>
          </a:xfrm>
        </p:grpSpPr>
        <p:sp>
          <p:nvSpPr>
            <p:cNvPr id="11" name="Rectangle 10"/>
            <p:cNvSpPr/>
            <p:nvPr/>
          </p:nvSpPr>
          <p:spPr>
            <a:xfrm>
              <a:off x="7863840" y="3145536"/>
              <a:ext cx="3566160" cy="16459"/>
            </a:xfrm>
            <a:prstGeom prst="rect">
              <a:avLst/>
            </a:prstGeom>
            <a:solidFill>
              <a:srgbClr val="142C21"/>
            </a:solidFill>
            <a:ln>
              <a:solidFill>
                <a:srgbClr val="142C2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Oval 11"/>
            <p:cNvSpPr/>
            <p:nvPr/>
          </p:nvSpPr>
          <p:spPr>
            <a:xfrm>
              <a:off x="11292840" y="3104388"/>
              <a:ext cx="91440" cy="91440"/>
            </a:xfrm>
            <a:prstGeom prst="ellipse">
              <a:avLst/>
            </a:prstGeom>
            <a:solidFill>
              <a:srgbClr val="48BE6F"/>
            </a:solidFill>
            <a:ln>
              <a:solidFill>
                <a:srgbClr val="48BE6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87FB7B4-DFD2-456F-999E-4AD9B4770DA3}"/>
              </a:ext>
            </a:extLst>
          </p:cNvPr>
          <p:cNvGrpSpPr/>
          <p:nvPr/>
        </p:nvGrpSpPr>
        <p:grpSpPr>
          <a:xfrm>
            <a:off x="7863840" y="5158459"/>
            <a:ext cx="3566160" cy="91440"/>
            <a:chOff x="7863840" y="3817620"/>
            <a:chExt cx="3566160" cy="91440"/>
          </a:xfrm>
        </p:grpSpPr>
        <p:sp>
          <p:nvSpPr>
            <p:cNvPr id="13" name="Rectangle 12"/>
            <p:cNvSpPr/>
            <p:nvPr/>
          </p:nvSpPr>
          <p:spPr>
            <a:xfrm>
              <a:off x="7863840" y="3858768"/>
              <a:ext cx="3566160" cy="16459"/>
            </a:xfrm>
            <a:prstGeom prst="rect">
              <a:avLst/>
            </a:prstGeom>
            <a:solidFill>
              <a:srgbClr val="142C21"/>
            </a:solidFill>
            <a:ln>
              <a:solidFill>
                <a:srgbClr val="142C2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Oval 13"/>
            <p:cNvSpPr/>
            <p:nvPr/>
          </p:nvSpPr>
          <p:spPr>
            <a:xfrm>
              <a:off x="11292840" y="3817620"/>
              <a:ext cx="91440" cy="91440"/>
            </a:xfrm>
            <a:prstGeom prst="ellipse">
              <a:avLst/>
            </a:prstGeom>
            <a:solidFill>
              <a:srgbClr val="E0B537"/>
            </a:solidFill>
            <a:ln>
              <a:solidFill>
                <a:srgbClr val="E0B53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36BB921-8D93-40C1-BDD0-99141A8BD26A}"/>
              </a:ext>
            </a:extLst>
          </p:cNvPr>
          <p:cNvGrpSpPr/>
          <p:nvPr/>
        </p:nvGrpSpPr>
        <p:grpSpPr>
          <a:xfrm>
            <a:off x="7498080" y="1096006"/>
            <a:ext cx="3430076" cy="4454402"/>
            <a:chOff x="7843925" y="891540"/>
            <a:chExt cx="3430076" cy="4454402"/>
          </a:xfrm>
        </p:grpSpPr>
        <p:sp>
          <p:nvSpPr>
            <p:cNvPr id="15" name="Rounded Rectangle 14"/>
            <p:cNvSpPr/>
            <p:nvPr/>
          </p:nvSpPr>
          <p:spPr>
            <a:xfrm>
              <a:off x="7843925" y="891540"/>
              <a:ext cx="3430076" cy="4454402"/>
            </a:xfrm>
            <a:prstGeom prst="roundRect">
              <a:avLst>
                <a:gd name="adj" fmla="val 13494"/>
              </a:avLst>
            </a:prstGeom>
            <a:solidFill>
              <a:srgbClr val="F5F5F2"/>
            </a:solidFill>
            <a:ln>
              <a:solidFill>
                <a:srgbClr val="BEBE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16" name="Picture 15" descr="image(1).png"/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0" b="100000" l="0" r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013627" y="1084201"/>
              <a:ext cx="3090672" cy="4069080"/>
            </a:xfrm>
            <a:prstGeom prst="roundRect">
              <a:avLst>
                <a:gd name="adj" fmla="val 11111"/>
              </a:avLst>
            </a:prstGeom>
            <a:ln w="190500" cap="rnd">
              <a:solidFill>
                <a:srgbClr val="C8C6BD"/>
              </a:solidFill>
              <a:prstDash val="solid"/>
            </a:ln>
            <a:effectLst>
              <a:outerShdw blurRad="101600" dist="50800" dir="7200000" algn="tl" rotWithShape="0">
                <a:srgbClr val="000000">
                  <a:alpha val="45000"/>
                </a:srgbClr>
              </a:outerShdw>
            </a:effectLst>
            <a:scene3d>
              <a:camera prst="perspectiveFront" fov="5400000"/>
              <a:lightRig rig="threePt" dir="t">
                <a:rot lat="0" lon="0" rev="19200000"/>
              </a:lightRig>
            </a:scene3d>
            <a:sp3d extrusionH="25400">
              <a:bevelT w="304800" h="152400" prst="hardEdge"/>
              <a:extrusionClr>
                <a:srgbClr val="FFFFFF"/>
              </a:extrusionClr>
            </a:sp3d>
          </p:spPr>
        </p:pic>
      </p:grpSp>
      <p:sp>
        <p:nvSpPr>
          <p:cNvPr id="17" name="TextBox 16"/>
          <p:cNvSpPr txBox="1"/>
          <p:nvPr/>
        </p:nvSpPr>
        <p:spPr>
          <a:xfrm>
            <a:off x="960120" y="1143000"/>
            <a:ext cx="4548051" cy="53553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E0B537"/>
                </a:solidFill>
                <a:latin typeface="Aptos"/>
              </a:defRPr>
            </a:pPr>
            <a:r>
              <a:rPr dirty="0"/>
              <a:t>KARTIKA CYBER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1847088"/>
            <a:ext cx="4548051" cy="6278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3600" b="1">
                <a:solidFill>
                  <a:srgbClr val="F1F5F0"/>
                </a:solidFill>
                <a:latin typeface="Aptos"/>
              </a:defRPr>
            </a:pPr>
            <a:r>
              <a:rPr dirty="0"/>
              <a:t>HACKATHON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2770632"/>
            <a:ext cx="4548051" cy="81253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3400" b="1">
                <a:solidFill>
                  <a:srgbClr val="78FF9D"/>
                </a:solidFill>
                <a:latin typeface="Aptos"/>
              </a:defRPr>
            </a:pPr>
            <a:r>
              <a:rPr sz="4800" dirty="0"/>
              <a:t>GARUDA SHIELD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3724840"/>
            <a:ext cx="4520619" cy="7484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AEBFB4"/>
                </a:solidFill>
                <a:latin typeface="Aptos"/>
              </a:defRPr>
            </a:pPr>
            <a:r>
              <a:rPr dirty="0" err="1"/>
              <a:t>Purwarupa</a:t>
            </a:r>
            <a:r>
              <a:rPr dirty="0"/>
              <a:t> Defensive Shield </a:t>
            </a:r>
            <a:r>
              <a:rPr dirty="0" err="1"/>
              <a:t>untuk</a:t>
            </a:r>
            <a:r>
              <a:rPr dirty="0"/>
              <a:t> </a:t>
            </a:r>
            <a:r>
              <a:rPr dirty="0" err="1"/>
              <a:t>simulasi</a:t>
            </a:r>
            <a:endParaRPr dirty="0"/>
          </a:p>
          <a:p>
            <a:pPr>
              <a:spcAft>
                <a:spcPts val="700"/>
              </a:spcAft>
              <a:defRPr sz="1900" b="0">
                <a:solidFill>
                  <a:srgbClr val="AEBFB4"/>
                </a:solidFill>
                <a:latin typeface="Aptos"/>
              </a:defRPr>
            </a:pPr>
            <a:r>
              <a:rPr dirty="0" err="1"/>
              <a:t>Deteksi</a:t>
            </a:r>
            <a:r>
              <a:rPr dirty="0"/>
              <a:t> &amp; </a:t>
            </a:r>
            <a:r>
              <a:rPr dirty="0" err="1"/>
              <a:t>Tindak</a:t>
            </a:r>
            <a:r>
              <a:rPr dirty="0"/>
              <a:t> </a:t>
            </a:r>
            <a:r>
              <a:rPr dirty="0" err="1"/>
              <a:t>Lanjut</a:t>
            </a:r>
            <a:r>
              <a:rPr dirty="0"/>
              <a:t> </a:t>
            </a:r>
            <a:r>
              <a:rPr dirty="0" err="1"/>
              <a:t>Insiden</a:t>
            </a:r>
            <a:r>
              <a:rPr dirty="0"/>
              <a:t> IT/OT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7552" y="4892040"/>
            <a:ext cx="4520619" cy="658368"/>
          </a:xfrm>
          <a:prstGeom prst="roundRect">
            <a:avLst/>
          </a:prstGeom>
          <a:solidFill>
            <a:srgbClr val="142C21"/>
          </a:solidFill>
          <a:ln>
            <a:solidFill>
              <a:srgbClr val="48BE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87552" y="5076569"/>
            <a:ext cx="4520619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F1F5F0"/>
                </a:solidFill>
                <a:latin typeface="Aptos"/>
              </a:defRPr>
            </a:pPr>
            <a:r>
              <a:rPr dirty="0">
                <a:solidFill>
                  <a:srgbClr val="FFC000"/>
                </a:solidFill>
              </a:rPr>
              <a:t>CYBER COMMUNITY  |  PUSSIBERAD</a:t>
            </a:r>
            <a:r>
              <a:rPr lang="en-US" dirty="0">
                <a:solidFill>
                  <a:srgbClr val="FFC000"/>
                </a:solidFill>
              </a:rPr>
              <a:t>  | CODEPOLITAN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87552" y="6153912"/>
            <a:ext cx="4520619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AEBFB4"/>
                </a:solidFill>
                <a:latin typeface="Aptos"/>
              </a:defRPr>
            </a:pPr>
            <a:r>
              <a:rPr b="1" dirty="0" err="1"/>
              <a:t>Fitria</a:t>
            </a:r>
            <a:r>
              <a:rPr b="1" dirty="0"/>
              <a:t> </a:t>
            </a:r>
            <a:r>
              <a:rPr b="1" dirty="0" err="1"/>
              <a:t>Khasanan</a:t>
            </a:r>
            <a:r>
              <a:rPr b="1" dirty="0"/>
              <a:t>  •  Basuki </a:t>
            </a:r>
            <a:r>
              <a:rPr b="1" dirty="0" err="1"/>
              <a:t>Rahmat</a:t>
            </a:r>
            <a:r>
              <a:rPr b="1" dirty="0"/>
              <a:t>  •  Frida </a:t>
            </a:r>
            <a:r>
              <a:rPr b="1" dirty="0" err="1"/>
              <a:t>Panjaitan</a:t>
            </a:r>
            <a:endParaRPr b="1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  <p:bldP spid="20" grpId="0"/>
      <p:bldP spid="21" grpId="0" animBg="1"/>
      <p:bldP spid="22" grpId="0"/>
      <p:bldP spid="2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D4E89CF7-6239-461C-8A4E-282F41D1C148}"/>
              </a:ext>
            </a:extLst>
          </p:cNvPr>
          <p:cNvSpPr/>
          <p:nvPr/>
        </p:nvSpPr>
        <p:spPr>
          <a:xfrm>
            <a:off x="-15240" y="73152"/>
            <a:ext cx="12207240" cy="6784848"/>
          </a:xfrm>
          <a:prstGeom prst="rect">
            <a:avLst/>
          </a:prstGeom>
          <a:solidFill>
            <a:srgbClr val="0711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" name="Rectangle 1"/>
          <p:cNvSpPr/>
          <p:nvPr/>
        </p:nvSpPr>
        <p:spPr>
          <a:xfrm>
            <a:off x="502920" y="438912"/>
            <a:ext cx="73152" cy="411480"/>
          </a:xfrm>
          <a:prstGeom prst="rect">
            <a:avLst/>
          </a:prstGeom>
          <a:solidFill>
            <a:srgbClr val="E0B537"/>
          </a:solidFill>
          <a:ln>
            <a:solidFill>
              <a:srgbClr val="E0B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429768"/>
            <a:ext cx="38404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78FF9D"/>
                </a:solidFill>
                <a:latin typeface="Aptos"/>
              </a:defRPr>
            </a:pPr>
            <a:r>
              <a:t>01 • KONTEKS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58952"/>
            <a:ext cx="1078992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1F5F0"/>
                </a:solidFill>
                <a:latin typeface="Aptos"/>
              </a:defRPr>
            </a:pPr>
            <a:r>
              <a:t>Tantangan yang Diangkat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10789920" cy="16459"/>
          </a:xfrm>
          <a:prstGeom prst="rect">
            <a:avLst/>
          </a:prstGeom>
          <a:solidFill>
            <a:srgbClr val="142C21"/>
          </a:solidFill>
          <a:ln>
            <a:solidFill>
              <a:srgbClr val="142C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0" y="6464808"/>
            <a:ext cx="50292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E0B537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3429000" cy="1828800"/>
          </a:xfrm>
          <a:prstGeom prst="roundRect">
            <a:avLst/>
          </a:prstGeom>
          <a:solidFill>
            <a:srgbClr val="0E221A"/>
          </a:solidFill>
          <a:ln>
            <a:solidFill>
              <a:srgbClr val="142C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783080"/>
            <a:ext cx="50292" cy="1828800"/>
          </a:xfrm>
          <a:prstGeom prst="rect">
            <a:avLst/>
          </a:prstGeom>
          <a:solidFill>
            <a:srgbClr val="48BE6F"/>
          </a:solidFill>
          <a:ln>
            <a:solidFill>
              <a:srgbClr val="48BE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1938528"/>
            <a:ext cx="3044952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48BE6F"/>
                </a:solidFill>
                <a:latin typeface="Aptos"/>
              </a:defRPr>
            </a:pPr>
            <a:r>
              <a:t>01  BANYAK SINYAL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50008"/>
            <a:ext cx="3044952" cy="11430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1F5F0"/>
                </a:solidFill>
                <a:latin typeface="Aptos"/>
              </a:defRPr>
            </a:pPr>
            <a:r>
              <a:t>Operator perlu memilah alert dan memahami konteks sebelum mengambil keputusan.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783080"/>
            <a:ext cx="3429000" cy="1828800"/>
          </a:xfrm>
          <a:prstGeom prst="roundRect">
            <a:avLst/>
          </a:prstGeom>
          <a:solidFill>
            <a:srgbClr val="0E221A"/>
          </a:solidFill>
          <a:ln>
            <a:solidFill>
              <a:srgbClr val="142C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1783080"/>
            <a:ext cx="50292" cy="1828800"/>
          </a:xfrm>
          <a:prstGeom prst="rect">
            <a:avLst/>
          </a:prstGeom>
          <a:solidFill>
            <a:srgbClr val="E0B537"/>
          </a:solidFill>
          <a:ln>
            <a:solidFill>
              <a:srgbClr val="E0B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0288" y="1938528"/>
            <a:ext cx="3044952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E0B537"/>
                </a:solidFill>
                <a:latin typeface="Aptos"/>
              </a:defRPr>
            </a:pPr>
            <a:r>
              <a:t>02  LINTAS ZONA IT/OT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350008"/>
            <a:ext cx="3044952" cy="11430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1F5F0"/>
                </a:solidFill>
                <a:latin typeface="Aptos"/>
              </a:defRPr>
            </a:pPr>
            <a:r>
              <a:t>Aktivitas lintas zona perlu ditinjau dengan bukti dan alur tindak lanjut yang jelas.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783080"/>
            <a:ext cx="3429000" cy="1828800"/>
          </a:xfrm>
          <a:prstGeom prst="roundRect">
            <a:avLst/>
          </a:prstGeom>
          <a:solidFill>
            <a:srgbClr val="0E221A"/>
          </a:solidFill>
          <a:ln>
            <a:solidFill>
              <a:srgbClr val="142C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20" y="1783080"/>
            <a:ext cx="50292" cy="1828800"/>
          </a:xfrm>
          <a:prstGeom prst="rect">
            <a:avLst/>
          </a:prstGeom>
          <a:solidFill>
            <a:srgbClr val="78FF9D"/>
          </a:solidFill>
          <a:ln>
            <a:solidFill>
              <a:srgbClr val="78F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47888" y="1938528"/>
            <a:ext cx="3044952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78FF9D"/>
                </a:solidFill>
                <a:latin typeface="Aptos"/>
              </a:defRPr>
            </a:pPr>
            <a:r>
              <a:t>03  DEMO YANG AMAN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350008"/>
            <a:ext cx="3044952" cy="11430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1F5F0"/>
                </a:solidFill>
                <a:latin typeface="Aptos"/>
              </a:defRPr>
            </a:pPr>
            <a:r>
              <a:t>Skenario harus terkontrol, dapat diulang, dan tidak mengganggu jaringan nyata.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160520"/>
            <a:ext cx="27432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E0B537"/>
                </a:solidFill>
                <a:latin typeface="Aptos"/>
              </a:defRPr>
            </a:pPr>
            <a:r>
              <a:t>Fokus purwarupa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553712"/>
            <a:ext cx="996696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F1F5F0"/>
                </a:solidFill>
                <a:latin typeface="Aptos"/>
              </a:defRPr>
            </a:pPr>
            <a:r>
              <a:t>Menghubungkan event → alert → analisis → tindakan operator → audit dan laporan.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532120"/>
            <a:ext cx="100584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AEBFB4"/>
                </a:solidFill>
                <a:latin typeface="Aptos"/>
              </a:defRPr>
            </a:pPr>
            <a:r>
              <a:t>Masalah ini menjadi inspirasi rancangan, bukan klaim pengukuran kondisi operasional.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BE38717-A80D-425A-8A1A-F52CD7995809}"/>
              </a:ext>
            </a:extLst>
          </p:cNvPr>
          <p:cNvSpPr txBox="1"/>
          <p:nvPr/>
        </p:nvSpPr>
        <p:spPr>
          <a:xfrm>
            <a:off x="685800" y="6510528"/>
            <a:ext cx="7315200" cy="19697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800" b="1">
                <a:solidFill>
                  <a:srgbClr val="AEBFB4"/>
                </a:solidFill>
                <a:latin typeface="Aptos"/>
              </a:defRPr>
            </a:pPr>
            <a:r>
              <a:rPr dirty="0"/>
              <a:t>KARTIKA CYBER HACKATHON 2026  •  PUSSIBERAD</a:t>
            </a:r>
            <a:r>
              <a:rPr lang="en-US" dirty="0"/>
              <a:t>  </a:t>
            </a:r>
            <a:r>
              <a:rPr lang="id-ID" dirty="0"/>
              <a:t>•</a:t>
            </a:r>
            <a:r>
              <a:rPr lang="en-US" dirty="0"/>
              <a:t> CODEPOLITAN </a:t>
            </a:r>
            <a:endParaRPr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B1A81B2-CE38-48A7-879D-79C4E76A5D2A}"/>
              </a:ext>
            </a:extLst>
          </p:cNvPr>
          <p:cNvSpPr/>
          <p:nvPr/>
        </p:nvSpPr>
        <p:spPr>
          <a:xfrm>
            <a:off x="-15240" y="0"/>
            <a:ext cx="12206935" cy="73152"/>
          </a:xfrm>
          <a:prstGeom prst="rect">
            <a:avLst/>
          </a:prstGeom>
          <a:solidFill>
            <a:srgbClr val="E0B537"/>
          </a:solidFill>
          <a:ln>
            <a:solidFill>
              <a:srgbClr val="E0B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>
            <a:extLst>
              <a:ext uri="{FF2B5EF4-FFF2-40B4-BE49-F238E27FC236}">
                <a16:creationId xmlns:a16="http://schemas.microsoft.com/office/drawing/2014/main" id="{02A09C1E-C313-4387-A3A0-A963418C0723}"/>
              </a:ext>
            </a:extLst>
          </p:cNvPr>
          <p:cNvGrpSpPr/>
          <p:nvPr/>
        </p:nvGrpSpPr>
        <p:grpSpPr>
          <a:xfrm>
            <a:off x="-15240" y="0"/>
            <a:ext cx="12207240" cy="6858000"/>
            <a:chOff x="-15240" y="0"/>
            <a:chExt cx="12207240" cy="6858000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7B5420D0-0494-4F4C-B9F3-DE6CDF13ED51}"/>
                </a:ext>
              </a:extLst>
            </p:cNvPr>
            <p:cNvSpPr/>
            <p:nvPr/>
          </p:nvSpPr>
          <p:spPr>
            <a:xfrm>
              <a:off x="-15240" y="73152"/>
              <a:ext cx="12207240" cy="6784848"/>
            </a:xfrm>
            <a:prstGeom prst="rect">
              <a:avLst/>
            </a:prstGeom>
            <a:solidFill>
              <a:srgbClr val="07110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7AAB5A64-DF76-4A4B-BDFD-E8501ED9368A}"/>
                </a:ext>
              </a:extLst>
            </p:cNvPr>
            <p:cNvSpPr/>
            <p:nvPr/>
          </p:nvSpPr>
          <p:spPr>
            <a:xfrm>
              <a:off x="0" y="0"/>
              <a:ext cx="12191695" cy="73152"/>
            </a:xfrm>
            <a:prstGeom prst="rect">
              <a:avLst/>
            </a:prstGeom>
            <a:solidFill>
              <a:srgbClr val="E0B537"/>
            </a:solidFill>
            <a:ln>
              <a:solidFill>
                <a:srgbClr val="E0B53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Rectangle 1"/>
          <p:cNvSpPr/>
          <p:nvPr/>
        </p:nvSpPr>
        <p:spPr>
          <a:xfrm>
            <a:off x="502920" y="438912"/>
            <a:ext cx="73152" cy="411480"/>
          </a:xfrm>
          <a:prstGeom prst="rect">
            <a:avLst/>
          </a:prstGeom>
          <a:solidFill>
            <a:srgbClr val="E0B537"/>
          </a:solidFill>
          <a:ln>
            <a:solidFill>
              <a:srgbClr val="E0B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429768"/>
            <a:ext cx="38404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78FF9D"/>
                </a:solidFill>
                <a:latin typeface="Aptos"/>
              </a:defRPr>
            </a:pPr>
            <a:r>
              <a:rPr dirty="0"/>
              <a:t>02 • SOLUSI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58952"/>
            <a:ext cx="1078992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1F5F0"/>
                </a:solidFill>
                <a:latin typeface="Aptos"/>
              </a:defRPr>
            </a:pPr>
            <a:r>
              <a:t>GARUDA SHIELD dalam Satu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10789920" cy="16459"/>
          </a:xfrm>
          <a:prstGeom prst="rect">
            <a:avLst/>
          </a:prstGeom>
          <a:solidFill>
            <a:srgbClr val="142C21"/>
          </a:solidFill>
          <a:ln>
            <a:solidFill>
              <a:srgbClr val="142C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0" y="6464808"/>
            <a:ext cx="502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E0B537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3429000" cy="1600200"/>
          </a:xfrm>
          <a:prstGeom prst="roundRect">
            <a:avLst/>
          </a:prstGeom>
          <a:solidFill>
            <a:srgbClr val="0E221A"/>
          </a:solidFill>
          <a:ln>
            <a:solidFill>
              <a:srgbClr val="142C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737360"/>
            <a:ext cx="50292" cy="1600200"/>
          </a:xfrm>
          <a:prstGeom prst="rect">
            <a:avLst/>
          </a:prstGeom>
          <a:solidFill>
            <a:srgbClr val="48BE6F"/>
          </a:solidFill>
          <a:ln>
            <a:solidFill>
              <a:srgbClr val="48BE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1892807"/>
            <a:ext cx="3044952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48BE6F"/>
                </a:solidFill>
                <a:latin typeface="Aptos"/>
              </a:defRPr>
            </a:pPr>
            <a:r>
              <a:t>PETA &amp; INVENTORY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04288"/>
            <a:ext cx="3044952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F1F5F0"/>
                </a:solidFill>
                <a:latin typeface="Aptos"/>
              </a:defRPr>
            </a:pPr>
            <a:r>
              <a:t>16 endpoint dummy, detail aset, filter status, dan tabel pemeriksaan simulasi.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737360"/>
            <a:ext cx="3429000" cy="1600200"/>
          </a:xfrm>
          <a:prstGeom prst="roundRect">
            <a:avLst/>
          </a:prstGeom>
          <a:solidFill>
            <a:srgbClr val="0E221A"/>
          </a:solidFill>
          <a:ln>
            <a:solidFill>
              <a:srgbClr val="142C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1737360"/>
            <a:ext cx="50292" cy="1600200"/>
          </a:xfrm>
          <a:prstGeom prst="rect">
            <a:avLst/>
          </a:prstGeom>
          <a:solidFill>
            <a:srgbClr val="E0B537"/>
          </a:solidFill>
          <a:ln>
            <a:solidFill>
              <a:srgbClr val="E0B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0288" y="1892807"/>
            <a:ext cx="3044952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E0B537"/>
                </a:solidFill>
                <a:latin typeface="Aptos"/>
              </a:defRPr>
            </a:pPr>
            <a:r>
              <a:t>RULE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304288"/>
            <a:ext cx="3044952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F1F5F0"/>
                </a:solidFill>
                <a:latin typeface="Aptos"/>
              </a:defRPr>
            </a:pPr>
            <a:r>
              <a:t>Delapan aturan deteksi menghasilkan alert, severity, bukti, dan rekomendasi.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737360"/>
            <a:ext cx="3429000" cy="1600200"/>
          </a:xfrm>
          <a:prstGeom prst="roundRect">
            <a:avLst/>
          </a:prstGeom>
          <a:solidFill>
            <a:srgbClr val="0E221A"/>
          </a:solidFill>
          <a:ln>
            <a:solidFill>
              <a:srgbClr val="142C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20" y="1737360"/>
            <a:ext cx="50292" cy="1600200"/>
          </a:xfrm>
          <a:prstGeom prst="rect">
            <a:avLst/>
          </a:prstGeom>
          <a:solidFill>
            <a:srgbClr val="78FF9D"/>
          </a:solidFill>
          <a:ln>
            <a:solidFill>
              <a:srgbClr val="78F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47888" y="1892807"/>
            <a:ext cx="3044952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78FF9D"/>
                </a:solidFill>
                <a:latin typeface="Aptos"/>
              </a:defRPr>
            </a:pPr>
            <a:r>
              <a:t>PANEL ANALISIS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304288"/>
            <a:ext cx="3044952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F1F5F0"/>
                </a:solidFill>
                <a:latin typeface="Aptos"/>
              </a:defRPr>
            </a:pPr>
            <a:r>
              <a:t>Analisis lokal/opsional Groq, checklist pemulihan, audit, dan laporan siap cetak.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160520"/>
            <a:ext cx="1600200" cy="960120"/>
          </a:xfrm>
          <a:prstGeom prst="roundRect">
            <a:avLst/>
          </a:prstGeom>
          <a:solidFill>
            <a:srgbClr val="142C21"/>
          </a:solidFill>
          <a:ln>
            <a:solidFill>
              <a:srgbClr val="48BE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41832" y="4315968"/>
            <a:ext cx="1444752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78FF9D"/>
                </a:solidFill>
                <a:latin typeface="Aptos"/>
              </a:defRPr>
            </a:pPr>
            <a:r>
              <a:t>EVENT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645152"/>
            <a:ext cx="15087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900" b="0">
                <a:solidFill>
                  <a:srgbClr val="F1F5F0"/>
                </a:solidFill>
                <a:latin typeface="Aptos"/>
              </a:defRPr>
            </a:pPr>
            <a:r>
              <a:t>Data sintetis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42032" y="4361688"/>
            <a:ext cx="4572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2500" b="1">
                <a:solidFill>
                  <a:srgbClr val="E0B537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154680" y="4160520"/>
            <a:ext cx="1600200" cy="960120"/>
          </a:xfrm>
          <a:prstGeom prst="roundRect">
            <a:avLst/>
          </a:prstGeom>
          <a:solidFill>
            <a:srgbClr val="142C21"/>
          </a:solidFill>
          <a:ln>
            <a:solidFill>
              <a:srgbClr val="48BE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27832" y="4315968"/>
            <a:ext cx="1444752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78FF9D"/>
                </a:solidFill>
                <a:latin typeface="Aptos"/>
              </a:defRPr>
            </a:pPr>
            <a:r>
              <a:t>DETECT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4645152"/>
            <a:ext cx="15087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900" b="0">
                <a:solidFill>
                  <a:srgbClr val="F1F5F0"/>
                </a:solidFill>
                <a:latin typeface="Aptos"/>
              </a:defRPr>
            </a:pPr>
            <a:r>
              <a:t>Rule engine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28032" y="4361688"/>
            <a:ext cx="4572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2500" b="1">
                <a:solidFill>
                  <a:srgbClr val="E0B537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40680" y="4160520"/>
            <a:ext cx="1600200" cy="960120"/>
          </a:xfrm>
          <a:prstGeom prst="roundRect">
            <a:avLst/>
          </a:prstGeom>
          <a:solidFill>
            <a:srgbClr val="142C21"/>
          </a:solidFill>
          <a:ln>
            <a:solidFill>
              <a:srgbClr val="48BE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513832" y="4315968"/>
            <a:ext cx="1444752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78FF9D"/>
                </a:solidFill>
                <a:latin typeface="Aptos"/>
              </a:defRPr>
            </a:pPr>
            <a:r>
              <a:t>ALERT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4645152"/>
            <a:ext cx="15087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900" b="0">
                <a:solidFill>
                  <a:srgbClr val="F1F5F0"/>
                </a:solidFill>
                <a:latin typeface="Aptos"/>
              </a:defRPr>
            </a:pPr>
            <a:r>
              <a:t>Severity + bukti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4032" y="4361688"/>
            <a:ext cx="4572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2500" b="1">
                <a:solidFill>
                  <a:srgbClr val="E0B537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26679" y="4160520"/>
            <a:ext cx="1600200" cy="960120"/>
          </a:xfrm>
          <a:prstGeom prst="roundRect">
            <a:avLst/>
          </a:prstGeom>
          <a:solidFill>
            <a:srgbClr val="142C21"/>
          </a:solidFill>
          <a:ln>
            <a:solidFill>
              <a:srgbClr val="E0B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799831" y="4315968"/>
            <a:ext cx="1444752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E0B537"/>
                </a:solidFill>
                <a:latin typeface="Aptos"/>
              </a:defRPr>
            </a:pPr>
            <a:r>
              <a:t>RESPOND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4645152"/>
            <a:ext cx="15087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900" b="0">
                <a:solidFill>
                  <a:srgbClr val="F1F5F0"/>
                </a:solidFill>
                <a:latin typeface="Aptos"/>
              </a:defRPr>
            </a:pPr>
            <a:r>
              <a:t>Operator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00032" y="4361688"/>
            <a:ext cx="4572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2500" b="1">
                <a:solidFill>
                  <a:srgbClr val="E0B537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012680" y="4160520"/>
            <a:ext cx="1600200" cy="960120"/>
          </a:xfrm>
          <a:prstGeom prst="roundRect">
            <a:avLst/>
          </a:prstGeom>
          <a:solidFill>
            <a:srgbClr val="142C21"/>
          </a:solidFill>
          <a:ln>
            <a:solidFill>
              <a:srgbClr val="E0B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085832" y="4315968"/>
            <a:ext cx="1444752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E0B537"/>
                </a:solidFill>
                <a:latin typeface="Aptos"/>
              </a:defRPr>
            </a:pPr>
            <a:r>
              <a:t>REPORT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0" y="4645152"/>
            <a:ext cx="15087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900" b="0">
                <a:solidFill>
                  <a:srgbClr val="F1F5F0"/>
                </a:solidFill>
                <a:latin typeface="Aptos"/>
              </a:defRPr>
            </a:pPr>
            <a:r>
              <a:t>Audit + laporan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" y="5623560"/>
            <a:ext cx="105156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AEBFB4"/>
                </a:solidFill>
                <a:latin typeface="Aptos"/>
              </a:defRPr>
            </a:pPr>
            <a:r>
              <a:t>Seluruh alur demonstrasi berjalan lokal; tidak mengirim trafik ke target.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F69D363-90D6-4789-A684-82ACB40EB590}"/>
              </a:ext>
            </a:extLst>
          </p:cNvPr>
          <p:cNvSpPr txBox="1"/>
          <p:nvPr/>
        </p:nvSpPr>
        <p:spPr>
          <a:xfrm>
            <a:off x="685800" y="6510528"/>
            <a:ext cx="7315200" cy="19697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800" b="1">
                <a:solidFill>
                  <a:srgbClr val="AEBFB4"/>
                </a:solidFill>
                <a:latin typeface="Aptos"/>
              </a:defRPr>
            </a:pPr>
            <a:r>
              <a:rPr dirty="0"/>
              <a:t>KARTIKA CYBER HACKATHON 2026  •  PUSSIBERAD</a:t>
            </a:r>
            <a:r>
              <a:rPr lang="en-US" dirty="0"/>
              <a:t>  </a:t>
            </a:r>
            <a:r>
              <a:rPr lang="id-ID" dirty="0"/>
              <a:t>•</a:t>
            </a:r>
            <a:r>
              <a:rPr lang="en-US" dirty="0"/>
              <a:t> CODEPOLITAN 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B4DD0E4D-C92B-4DC2-A683-F422ECA58244}"/>
              </a:ext>
            </a:extLst>
          </p:cNvPr>
          <p:cNvGrpSpPr/>
          <p:nvPr/>
        </p:nvGrpSpPr>
        <p:grpSpPr>
          <a:xfrm>
            <a:off x="-15240" y="0"/>
            <a:ext cx="12207240" cy="6858000"/>
            <a:chOff x="-15240" y="0"/>
            <a:chExt cx="12207240" cy="685800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45A78619-63CF-4313-A32C-D650A48F1209}"/>
                </a:ext>
              </a:extLst>
            </p:cNvPr>
            <p:cNvSpPr/>
            <p:nvPr/>
          </p:nvSpPr>
          <p:spPr>
            <a:xfrm>
              <a:off x="-15240" y="73152"/>
              <a:ext cx="12207240" cy="6784848"/>
            </a:xfrm>
            <a:prstGeom prst="rect">
              <a:avLst/>
            </a:prstGeom>
            <a:solidFill>
              <a:srgbClr val="07110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B33349F-49E6-4D48-B073-53CBDA8F925B}"/>
                </a:ext>
              </a:extLst>
            </p:cNvPr>
            <p:cNvSpPr/>
            <p:nvPr/>
          </p:nvSpPr>
          <p:spPr>
            <a:xfrm>
              <a:off x="0" y="0"/>
              <a:ext cx="12191695" cy="73152"/>
            </a:xfrm>
            <a:prstGeom prst="rect">
              <a:avLst/>
            </a:prstGeom>
            <a:solidFill>
              <a:srgbClr val="E0B537"/>
            </a:solidFill>
            <a:ln>
              <a:solidFill>
                <a:srgbClr val="E0B53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Rectangle 1"/>
          <p:cNvSpPr/>
          <p:nvPr/>
        </p:nvSpPr>
        <p:spPr>
          <a:xfrm>
            <a:off x="502920" y="438912"/>
            <a:ext cx="73152" cy="411480"/>
          </a:xfrm>
          <a:prstGeom prst="rect">
            <a:avLst/>
          </a:prstGeom>
          <a:solidFill>
            <a:srgbClr val="E0B537"/>
          </a:solidFill>
          <a:ln>
            <a:solidFill>
              <a:srgbClr val="E0B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429768"/>
            <a:ext cx="38404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78FF9D"/>
                </a:solidFill>
                <a:latin typeface="Aptos"/>
              </a:defRPr>
            </a:pPr>
            <a:r>
              <a:t>03 • ARSITEKTUR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58952"/>
            <a:ext cx="1078992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1F5F0"/>
                </a:solidFill>
                <a:latin typeface="Aptos"/>
              </a:defRPr>
            </a:pPr>
            <a:r>
              <a:t>Alur Kerja Purwarupa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10789920" cy="16459"/>
          </a:xfrm>
          <a:prstGeom prst="rect">
            <a:avLst/>
          </a:prstGeom>
          <a:solidFill>
            <a:srgbClr val="142C21"/>
          </a:solidFill>
          <a:ln>
            <a:solidFill>
              <a:srgbClr val="142C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0" y="6464808"/>
            <a:ext cx="502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E0B537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783080"/>
            <a:ext cx="3429000" cy="1508760"/>
          </a:xfrm>
          <a:prstGeom prst="roundRect">
            <a:avLst/>
          </a:prstGeom>
          <a:solidFill>
            <a:srgbClr val="0E221A"/>
          </a:solidFill>
          <a:ln>
            <a:solidFill>
              <a:srgbClr val="142C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0292" cy="1508760"/>
          </a:xfrm>
          <a:prstGeom prst="rect">
            <a:avLst/>
          </a:prstGeom>
          <a:solidFill>
            <a:srgbClr val="48BE6F"/>
          </a:solidFill>
          <a:ln>
            <a:solidFill>
              <a:srgbClr val="48BE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8408" y="1938528"/>
            <a:ext cx="3044952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48BE6F"/>
                </a:solidFill>
                <a:latin typeface="Aptos"/>
              </a:defRPr>
            </a:pPr>
            <a:r>
              <a:t>01  Pilih skenario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0008"/>
            <a:ext cx="3044952" cy="82295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F1F5F0"/>
                </a:solidFill>
                <a:latin typeface="Aptos"/>
              </a:defRPr>
            </a:pPr>
            <a:r>
              <a:t>Target dummy, modul, dan profil asal simulasi.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783080"/>
            <a:ext cx="3429000" cy="1508760"/>
          </a:xfrm>
          <a:prstGeom prst="roundRect">
            <a:avLst/>
          </a:prstGeom>
          <a:solidFill>
            <a:srgbClr val="0E221A"/>
          </a:solidFill>
          <a:ln>
            <a:solidFill>
              <a:srgbClr val="142C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0" y="1783080"/>
            <a:ext cx="50292" cy="1508760"/>
          </a:xfrm>
          <a:prstGeom prst="rect">
            <a:avLst/>
          </a:prstGeom>
          <a:solidFill>
            <a:srgbClr val="48BE6F"/>
          </a:solidFill>
          <a:ln>
            <a:solidFill>
              <a:srgbClr val="48BE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73168" y="1938528"/>
            <a:ext cx="3044952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48BE6F"/>
                </a:solidFill>
                <a:latin typeface="Aptos"/>
              </a:defRPr>
            </a:pPr>
            <a:r>
              <a:t>02  Buat event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3168" y="2350008"/>
            <a:ext cx="3044952" cy="82295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F1F5F0"/>
                </a:solidFill>
                <a:latin typeface="Aptos"/>
              </a:defRPr>
            </a:pPr>
            <a:r>
              <a:t>Event sintetis disimpan pada SQLite lokal.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1783080"/>
            <a:ext cx="3429000" cy="1508760"/>
          </a:xfrm>
          <a:prstGeom prst="roundRect">
            <a:avLst/>
          </a:prstGeom>
          <a:solidFill>
            <a:srgbClr val="0E221A"/>
          </a:solidFill>
          <a:ln>
            <a:solidFill>
              <a:srgbClr val="142C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366760" y="1783080"/>
            <a:ext cx="50292" cy="1508760"/>
          </a:xfrm>
          <a:prstGeom prst="rect">
            <a:avLst/>
          </a:prstGeom>
          <a:solidFill>
            <a:srgbClr val="48BE6F"/>
          </a:solidFill>
          <a:ln>
            <a:solidFill>
              <a:srgbClr val="48BE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67928" y="1938528"/>
            <a:ext cx="3044952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48BE6F"/>
                </a:solidFill>
                <a:latin typeface="Aptos"/>
              </a:defRPr>
            </a:pPr>
            <a:r>
              <a:t>03  Evaluasi aturan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67928" y="2350008"/>
            <a:ext cx="3044952" cy="82295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F1F5F0"/>
                </a:solidFill>
                <a:latin typeface="Aptos"/>
              </a:defRPr>
            </a:pPr>
            <a:r>
              <a:t>Rule engine mencocokkan pola dan menghasilkan alert.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703320"/>
            <a:ext cx="3429000" cy="1508760"/>
          </a:xfrm>
          <a:prstGeom prst="roundRect">
            <a:avLst/>
          </a:prstGeom>
          <a:solidFill>
            <a:srgbClr val="0E221A"/>
          </a:solidFill>
          <a:ln>
            <a:solidFill>
              <a:srgbClr val="142C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77240" y="3703320"/>
            <a:ext cx="50292" cy="1508760"/>
          </a:xfrm>
          <a:prstGeom prst="rect">
            <a:avLst/>
          </a:prstGeom>
          <a:solidFill>
            <a:srgbClr val="48BE6F"/>
          </a:solidFill>
          <a:ln>
            <a:solidFill>
              <a:srgbClr val="48BE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78408" y="3858768"/>
            <a:ext cx="3044952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48BE6F"/>
                </a:solidFill>
                <a:latin typeface="Aptos"/>
              </a:defRPr>
            </a:pPr>
            <a:r>
              <a:t>04  Tinjau insiden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" y="4270248"/>
            <a:ext cx="3044952" cy="82295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F1F5F0"/>
                </a:solidFill>
                <a:latin typeface="Aptos"/>
              </a:defRPr>
            </a:pPr>
            <a:r>
              <a:t>Dashboard, alarm, bukti, severity, rekomendasi.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0" y="3703320"/>
            <a:ext cx="3429000" cy="1508760"/>
          </a:xfrm>
          <a:prstGeom prst="roundRect">
            <a:avLst/>
          </a:prstGeom>
          <a:solidFill>
            <a:srgbClr val="0E221A"/>
          </a:solidFill>
          <a:ln>
            <a:solidFill>
              <a:srgbClr val="142C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72000" y="3703320"/>
            <a:ext cx="50292" cy="1508760"/>
          </a:xfrm>
          <a:prstGeom prst="rect">
            <a:avLst/>
          </a:prstGeom>
          <a:solidFill>
            <a:srgbClr val="E0B537"/>
          </a:solidFill>
          <a:ln>
            <a:solidFill>
              <a:srgbClr val="E0B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73168" y="3858768"/>
            <a:ext cx="3044952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E0B537"/>
                </a:solidFill>
                <a:latin typeface="Aptos"/>
              </a:defRPr>
            </a:pPr>
            <a:r>
              <a:t>05  Pulihkan &amp; audit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73168" y="4270248"/>
            <a:ext cx="3044952" cy="82295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F1F5F0"/>
                </a:solidFill>
                <a:latin typeface="Aptos"/>
              </a:defRPr>
            </a:pPr>
            <a:r>
              <a:t>Operator memilih pemulihan; perubahan status dicatat.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66760" y="3703320"/>
            <a:ext cx="3429000" cy="1508760"/>
          </a:xfrm>
          <a:prstGeom prst="roundRect">
            <a:avLst/>
          </a:prstGeom>
          <a:solidFill>
            <a:srgbClr val="0E221A"/>
          </a:solidFill>
          <a:ln>
            <a:solidFill>
              <a:srgbClr val="142C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366760" y="3703320"/>
            <a:ext cx="50292" cy="1508760"/>
          </a:xfrm>
          <a:prstGeom prst="rect">
            <a:avLst/>
          </a:prstGeom>
          <a:solidFill>
            <a:srgbClr val="E0B537"/>
          </a:solidFill>
          <a:ln>
            <a:solidFill>
              <a:srgbClr val="E0B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567928" y="3858768"/>
            <a:ext cx="3044952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E0B537"/>
                </a:solidFill>
                <a:latin typeface="Aptos"/>
              </a:defRPr>
            </a:pPr>
            <a:r>
              <a:t>06  Cetak laporan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67928" y="4270248"/>
            <a:ext cx="3044952" cy="82295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F1F5F0"/>
                </a:solidFill>
                <a:latin typeface="Aptos"/>
              </a:defRPr>
            </a:pPr>
            <a:r>
              <a:t>Laporan insiden operator → pimpinan.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806440"/>
            <a:ext cx="10515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E0B537"/>
                </a:solidFill>
                <a:latin typeface="Aptos"/>
              </a:defRPr>
            </a:pPr>
            <a:r>
              <a:t>Kontrol manusia: analisis AI tidak otomatis memulihkan sistem.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B24F8B0-374F-4556-9A3A-4F6CB227B675}"/>
              </a:ext>
            </a:extLst>
          </p:cNvPr>
          <p:cNvSpPr txBox="1"/>
          <p:nvPr/>
        </p:nvSpPr>
        <p:spPr>
          <a:xfrm>
            <a:off x="685800" y="6510528"/>
            <a:ext cx="7315200" cy="19697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800" b="1">
                <a:solidFill>
                  <a:srgbClr val="AEBFB4"/>
                </a:solidFill>
                <a:latin typeface="Aptos"/>
              </a:defRPr>
            </a:pPr>
            <a:r>
              <a:rPr dirty="0"/>
              <a:t>KARTIKA CYBER HACKATHON 2026  •  PUSSIBERAD</a:t>
            </a:r>
            <a:r>
              <a:rPr lang="en-US" dirty="0"/>
              <a:t>  </a:t>
            </a:r>
            <a:r>
              <a:rPr lang="id-ID" dirty="0"/>
              <a:t>•</a:t>
            </a:r>
            <a:r>
              <a:rPr lang="en-US" dirty="0"/>
              <a:t> CODEPOLITAN 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05975E73-5673-4FF9-B92C-1E235D548AB5}"/>
              </a:ext>
            </a:extLst>
          </p:cNvPr>
          <p:cNvGrpSpPr/>
          <p:nvPr/>
        </p:nvGrpSpPr>
        <p:grpSpPr>
          <a:xfrm>
            <a:off x="-15240" y="0"/>
            <a:ext cx="12207240" cy="6858000"/>
            <a:chOff x="-15240" y="0"/>
            <a:chExt cx="12207240" cy="6858000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2D305124-E4FA-41C7-AD3D-2630228139C4}"/>
                </a:ext>
              </a:extLst>
            </p:cNvPr>
            <p:cNvSpPr/>
            <p:nvPr/>
          </p:nvSpPr>
          <p:spPr>
            <a:xfrm>
              <a:off x="-15240" y="73152"/>
              <a:ext cx="12207240" cy="6784848"/>
            </a:xfrm>
            <a:prstGeom prst="rect">
              <a:avLst/>
            </a:prstGeom>
            <a:solidFill>
              <a:srgbClr val="07110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65529DB4-BD3F-4125-92F7-BA6A47F51FF6}"/>
                </a:ext>
              </a:extLst>
            </p:cNvPr>
            <p:cNvSpPr/>
            <p:nvPr/>
          </p:nvSpPr>
          <p:spPr>
            <a:xfrm>
              <a:off x="0" y="0"/>
              <a:ext cx="12191695" cy="73152"/>
            </a:xfrm>
            <a:prstGeom prst="rect">
              <a:avLst/>
            </a:prstGeom>
            <a:solidFill>
              <a:srgbClr val="E0B537"/>
            </a:solidFill>
            <a:ln>
              <a:solidFill>
                <a:srgbClr val="E0B53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Rectangle 1"/>
          <p:cNvSpPr/>
          <p:nvPr/>
        </p:nvSpPr>
        <p:spPr>
          <a:xfrm>
            <a:off x="502920" y="438912"/>
            <a:ext cx="73152" cy="411480"/>
          </a:xfrm>
          <a:prstGeom prst="rect">
            <a:avLst/>
          </a:prstGeom>
          <a:solidFill>
            <a:srgbClr val="E0B537"/>
          </a:solidFill>
          <a:ln>
            <a:solidFill>
              <a:srgbClr val="E0B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429768"/>
            <a:ext cx="38404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78FF9D"/>
                </a:solidFill>
                <a:latin typeface="Aptos"/>
              </a:defRPr>
            </a:pPr>
            <a:r>
              <a:t>04 • MODUL KEAMANAN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58952"/>
            <a:ext cx="1078992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1F5F0"/>
                </a:solidFill>
                <a:latin typeface="Aptos"/>
              </a:defRPr>
            </a:pPr>
            <a:r>
              <a:t>Lima Modul Pertahanan Berlapis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10789920" cy="16459"/>
          </a:xfrm>
          <a:prstGeom prst="rect">
            <a:avLst/>
          </a:prstGeom>
          <a:solidFill>
            <a:srgbClr val="142C21"/>
          </a:solidFill>
          <a:ln>
            <a:solidFill>
              <a:srgbClr val="142C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0" y="6464808"/>
            <a:ext cx="502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E0B537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664208"/>
            <a:ext cx="10561320" cy="658368"/>
          </a:xfrm>
          <a:prstGeom prst="roundRect">
            <a:avLst/>
          </a:prstGeom>
          <a:solidFill>
            <a:srgbClr val="0E221A"/>
          </a:solidFill>
          <a:ln>
            <a:solidFill>
              <a:srgbClr val="142C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828800"/>
            <a:ext cx="502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E0B537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801368"/>
            <a:ext cx="30175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78FF9D"/>
                </a:solidFill>
                <a:latin typeface="Aptos"/>
              </a:defRPr>
            </a:pPr>
            <a:r>
              <a:rPr dirty="0"/>
              <a:t>Smart IDS/IPS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1810512"/>
            <a:ext cx="626364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F1F5F0"/>
                </a:solidFill>
                <a:latin typeface="Aptos"/>
              </a:defRPr>
            </a:pPr>
            <a:r>
              <a:t>Mengenali pola intrusi dan mengevaluasi pencegahan.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496312"/>
            <a:ext cx="10561320" cy="658368"/>
          </a:xfrm>
          <a:prstGeom prst="roundRect">
            <a:avLst/>
          </a:prstGeom>
          <a:solidFill>
            <a:srgbClr val="0E221A"/>
          </a:solidFill>
          <a:ln>
            <a:solidFill>
              <a:srgbClr val="142C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2660904"/>
            <a:ext cx="502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E0B537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2633472"/>
            <a:ext cx="30175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78FF9D"/>
                </a:solidFill>
                <a:latin typeface="Aptos"/>
              </a:defRPr>
            </a:pPr>
            <a:r>
              <a:t>Threat Intelligence Platform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642616"/>
            <a:ext cx="626364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F1F5F0"/>
                </a:solidFill>
                <a:latin typeface="Aptos"/>
              </a:defRPr>
            </a:pPr>
            <a:r>
              <a:t>Menambahkan konteks indikator ancaman (IOC).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328416"/>
            <a:ext cx="10561320" cy="658368"/>
          </a:xfrm>
          <a:prstGeom prst="roundRect">
            <a:avLst/>
          </a:prstGeom>
          <a:solidFill>
            <a:srgbClr val="0E221A"/>
          </a:solidFill>
          <a:ln>
            <a:solidFill>
              <a:srgbClr val="142C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3493008"/>
            <a:ext cx="502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E0B537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3465576"/>
            <a:ext cx="30175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78FF9D"/>
                </a:solidFill>
                <a:latin typeface="Aptos"/>
              </a:defRPr>
            </a:pPr>
            <a:r>
              <a:t>Automated Incident Response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3474720"/>
            <a:ext cx="626364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F1F5F0"/>
                </a:solidFill>
                <a:latin typeface="Aptos"/>
              </a:defRPr>
            </a:pPr>
            <a:r>
              <a:t>Mengarahkan playbook respons sesuai aturan.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160520"/>
            <a:ext cx="10561320" cy="658368"/>
          </a:xfrm>
          <a:prstGeom prst="roundRect">
            <a:avLst/>
          </a:prstGeom>
          <a:solidFill>
            <a:srgbClr val="0E221A"/>
          </a:solidFill>
          <a:ln>
            <a:solidFill>
              <a:srgbClr val="142C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4325112"/>
            <a:ext cx="502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E0B537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4297680"/>
            <a:ext cx="30175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78FF9D"/>
                </a:solidFill>
                <a:latin typeface="Aptos"/>
              </a:defRPr>
            </a:pPr>
            <a:r>
              <a:t>Zero-Day Detection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4306824"/>
            <a:ext cx="626364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F1F5F0"/>
                </a:solidFill>
                <a:latin typeface="Aptos"/>
              </a:defRPr>
            </a:pPr>
            <a:r>
              <a:t>Menandai anomali yang perlu investigasi.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4992624"/>
            <a:ext cx="10561320" cy="658368"/>
          </a:xfrm>
          <a:prstGeom prst="roundRect">
            <a:avLst/>
          </a:prstGeom>
          <a:solidFill>
            <a:srgbClr val="0E221A"/>
          </a:solidFill>
          <a:ln>
            <a:solidFill>
              <a:srgbClr val="142C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5840" y="5157216"/>
            <a:ext cx="502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E0B537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640" y="5129784"/>
            <a:ext cx="30175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78FF9D"/>
                </a:solidFill>
                <a:latin typeface="Aptos"/>
              </a:defRPr>
            </a:pPr>
            <a:r>
              <a:t>Encryption Tool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5138928"/>
            <a:ext cx="626364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F1F5F0"/>
                </a:solidFill>
                <a:latin typeface="Aptos"/>
              </a:defRPr>
            </a:pPr>
            <a:r>
              <a:t>Melindungi kerahasiaan data saat disimpan/dikirim.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989320"/>
            <a:ext cx="10515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AEBFB4"/>
                </a:solidFill>
                <a:latin typeface="Aptos"/>
              </a:defRPr>
            </a:pPr>
            <a:r>
              <a:t>Nama modul ≠ bukti implementasi operasional. Kemampuan harus diverifikasi terhadap kode, integrasi, dan pengujian.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6BEFE83-F9E3-4EDA-9E52-49D9266EB2C8}"/>
              </a:ext>
            </a:extLst>
          </p:cNvPr>
          <p:cNvSpPr txBox="1"/>
          <p:nvPr/>
        </p:nvSpPr>
        <p:spPr>
          <a:xfrm>
            <a:off x="685800" y="6510528"/>
            <a:ext cx="7315200" cy="19697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800" b="1">
                <a:solidFill>
                  <a:srgbClr val="AEBFB4"/>
                </a:solidFill>
                <a:latin typeface="Aptos"/>
              </a:defRPr>
            </a:pPr>
            <a:r>
              <a:rPr dirty="0"/>
              <a:t>KARTIKA CYBER HACKATHON 2026  •  PUSSIBERAD</a:t>
            </a:r>
            <a:r>
              <a:rPr lang="en-US" dirty="0"/>
              <a:t>  </a:t>
            </a:r>
            <a:r>
              <a:rPr lang="id-ID" dirty="0"/>
              <a:t>•</a:t>
            </a:r>
            <a:r>
              <a:rPr lang="en-US" dirty="0"/>
              <a:t> CODEPOLITAN 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87CA52CA-C214-4012-9DA2-9C10AFEB091B}"/>
              </a:ext>
            </a:extLst>
          </p:cNvPr>
          <p:cNvGrpSpPr/>
          <p:nvPr/>
        </p:nvGrpSpPr>
        <p:grpSpPr>
          <a:xfrm>
            <a:off x="-15240" y="0"/>
            <a:ext cx="12207240" cy="6858000"/>
            <a:chOff x="-15240" y="0"/>
            <a:chExt cx="12207240" cy="68580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F138041-753B-4ED6-A5BF-2B50370EDCA6}"/>
                </a:ext>
              </a:extLst>
            </p:cNvPr>
            <p:cNvSpPr/>
            <p:nvPr/>
          </p:nvSpPr>
          <p:spPr>
            <a:xfrm>
              <a:off x="-15240" y="73152"/>
              <a:ext cx="12207240" cy="6784848"/>
            </a:xfrm>
            <a:prstGeom prst="rect">
              <a:avLst/>
            </a:prstGeom>
            <a:solidFill>
              <a:srgbClr val="07110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4456714-2033-4E3C-945B-693EC16A6B63}"/>
                </a:ext>
              </a:extLst>
            </p:cNvPr>
            <p:cNvSpPr/>
            <p:nvPr/>
          </p:nvSpPr>
          <p:spPr>
            <a:xfrm>
              <a:off x="0" y="0"/>
              <a:ext cx="12191695" cy="73152"/>
            </a:xfrm>
            <a:prstGeom prst="rect">
              <a:avLst/>
            </a:prstGeom>
            <a:solidFill>
              <a:srgbClr val="E0B537"/>
            </a:solidFill>
            <a:ln>
              <a:solidFill>
                <a:srgbClr val="E0B53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Rectangle 1"/>
          <p:cNvSpPr/>
          <p:nvPr/>
        </p:nvSpPr>
        <p:spPr>
          <a:xfrm>
            <a:off x="502920" y="438912"/>
            <a:ext cx="73152" cy="411480"/>
          </a:xfrm>
          <a:prstGeom prst="rect">
            <a:avLst/>
          </a:prstGeom>
          <a:solidFill>
            <a:srgbClr val="E0B537"/>
          </a:solidFill>
          <a:ln>
            <a:solidFill>
              <a:srgbClr val="E0B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429768"/>
            <a:ext cx="38404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78FF9D"/>
                </a:solidFill>
                <a:latin typeface="Aptos"/>
              </a:defRPr>
            </a:pPr>
            <a:r>
              <a:t>05 •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58952"/>
            <a:ext cx="1078992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1F5F0"/>
                </a:solidFill>
                <a:latin typeface="Aptos"/>
              </a:defRPr>
            </a:pPr>
            <a:r>
              <a:t>Skenario Demo yang Ditampilkan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10789920" cy="16459"/>
          </a:xfrm>
          <a:prstGeom prst="rect">
            <a:avLst/>
          </a:prstGeom>
          <a:solidFill>
            <a:srgbClr val="142C21"/>
          </a:solidFill>
          <a:ln>
            <a:solidFill>
              <a:srgbClr val="142C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7315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800" b="1">
                <a:solidFill>
                  <a:srgbClr val="AEBFB4"/>
                </a:solidFill>
                <a:latin typeface="Aptos"/>
              </a:defRPr>
            </a:pPr>
            <a:r>
              <a:t>KARTIKA CYBER HACKATHON 2026  •  PUSSIBERAD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64808"/>
            <a:ext cx="502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E0B537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783080"/>
            <a:ext cx="5074920" cy="1600200"/>
          </a:xfrm>
          <a:prstGeom prst="roundRect">
            <a:avLst/>
          </a:prstGeom>
          <a:solidFill>
            <a:srgbClr val="0E221A"/>
          </a:solidFill>
          <a:ln>
            <a:solidFill>
              <a:srgbClr val="142C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0292" cy="1600200"/>
          </a:xfrm>
          <a:prstGeom prst="rect">
            <a:avLst/>
          </a:prstGeom>
          <a:solidFill>
            <a:srgbClr val="48BE6F"/>
          </a:solidFill>
          <a:ln>
            <a:solidFill>
              <a:srgbClr val="48BE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8408" y="1938528"/>
            <a:ext cx="4690872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48BE6F"/>
                </a:solidFill>
                <a:latin typeface="Aptos"/>
              </a:defRPr>
            </a:pPr>
            <a:r>
              <a:t>SKENARIO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0008"/>
            <a:ext cx="4690872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1F5F0"/>
                </a:solidFill>
                <a:latin typeface="Aptos"/>
              </a:defRPr>
            </a:pPr>
            <a:r>
              <a:t>Pilih endpoint dummy, metode pertahanan, dan profil asal simulasi; jalankan event dan amati alert.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783080"/>
            <a:ext cx="5074920" cy="1600200"/>
          </a:xfrm>
          <a:prstGeom prst="roundRect">
            <a:avLst/>
          </a:prstGeom>
          <a:solidFill>
            <a:srgbClr val="0E221A"/>
          </a:solidFill>
          <a:ln>
            <a:solidFill>
              <a:srgbClr val="142C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783080"/>
            <a:ext cx="50292" cy="1600200"/>
          </a:xfrm>
          <a:prstGeom prst="rect">
            <a:avLst/>
          </a:prstGeom>
          <a:solidFill>
            <a:srgbClr val="E0B537"/>
          </a:solidFill>
          <a:ln>
            <a:solidFill>
              <a:srgbClr val="E0B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19088" y="1938528"/>
            <a:ext cx="4690872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E0B537"/>
                </a:solidFill>
                <a:latin typeface="Aptos"/>
              </a:defRPr>
            </a:pPr>
            <a:r>
              <a:t>TINDAK LANJUT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350008"/>
            <a:ext cx="4690872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1F5F0"/>
                </a:solidFill>
                <a:latin typeface="Aptos"/>
              </a:defRPr>
            </a:pPr>
            <a:r>
              <a:t>Tinjau severity, bukti, rekomendasi; ubah status alert, pulihkan situs dummy, dan cetak laporan.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886200"/>
            <a:ext cx="32004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78FF9D"/>
                </a:solidFill>
                <a:latin typeface="Aptos"/>
              </a:defRPr>
            </a:pPr>
            <a:r>
              <a:t>Contoh sesi demo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315968"/>
            <a:ext cx="10241280" cy="1600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1F5F0"/>
                </a:solidFill>
                <a:latin typeface="Aptos"/>
              </a:defRPr>
            </a:pPr>
            <a:r>
              <a:t>•  Buka peta dan pilih endpoint dummy</a:t>
            </a:r>
          </a:p>
          <a:p>
            <a:pPr>
              <a:spcAft>
                <a:spcPts val="700"/>
              </a:spcAft>
              <a:defRPr sz="1500">
                <a:solidFill>
                  <a:srgbClr val="F1F5F0"/>
                </a:solidFill>
                <a:latin typeface="Aptos"/>
              </a:defRPr>
            </a:pPr>
            <a:r>
              <a:t>•  Pilih Automated Incident Response (AIR-003)</a:t>
            </a:r>
          </a:p>
          <a:p>
            <a:pPr>
              <a:spcAft>
                <a:spcPts val="700"/>
              </a:spcAft>
              <a:defRPr sz="1500">
                <a:solidFill>
                  <a:srgbClr val="F1F5F0"/>
                </a:solidFill>
                <a:latin typeface="Aptos"/>
              </a:defRPr>
            </a:pPr>
            <a:r>
              <a:t>•  Pilih profil Frankfurt · VPN (metadata simulasi)</a:t>
            </a:r>
          </a:p>
          <a:p>
            <a:pPr>
              <a:spcAft>
                <a:spcPts val="700"/>
              </a:spcAft>
              <a:defRPr sz="1500">
                <a:solidFill>
                  <a:srgbClr val="F1F5F0"/>
                </a:solidFill>
                <a:latin typeface="Aptos"/>
              </a:defRPr>
            </a:pPr>
            <a:r>
              <a:t>•  Jalankan simulasi dan tinjau alert + alarm</a:t>
            </a:r>
          </a:p>
          <a:p>
            <a:pPr>
              <a:spcAft>
                <a:spcPts val="700"/>
              </a:spcAft>
              <a:defRPr sz="1500">
                <a:solidFill>
                  <a:srgbClr val="F1F5F0"/>
                </a:solidFill>
                <a:latin typeface="Aptos"/>
              </a:defRPr>
            </a:pPr>
            <a:r>
              <a:t>•  Klik Pulihkan situs, lalu Cetak laporan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8FAC163F-948B-4EA6-80B8-D08927DD915B}"/>
              </a:ext>
            </a:extLst>
          </p:cNvPr>
          <p:cNvGrpSpPr/>
          <p:nvPr/>
        </p:nvGrpSpPr>
        <p:grpSpPr>
          <a:xfrm>
            <a:off x="-15240" y="0"/>
            <a:ext cx="12207240" cy="6858000"/>
            <a:chOff x="-15240" y="0"/>
            <a:chExt cx="12207240" cy="685800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1045130-2398-44EC-8C8B-A398EE987E70}"/>
                </a:ext>
              </a:extLst>
            </p:cNvPr>
            <p:cNvSpPr/>
            <p:nvPr/>
          </p:nvSpPr>
          <p:spPr>
            <a:xfrm>
              <a:off x="-15240" y="73152"/>
              <a:ext cx="12207240" cy="6784848"/>
            </a:xfrm>
            <a:prstGeom prst="rect">
              <a:avLst/>
            </a:prstGeom>
            <a:solidFill>
              <a:srgbClr val="07110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32EF276-7524-42A6-9D4F-5D7A2376C755}"/>
                </a:ext>
              </a:extLst>
            </p:cNvPr>
            <p:cNvSpPr/>
            <p:nvPr/>
          </p:nvSpPr>
          <p:spPr>
            <a:xfrm>
              <a:off x="0" y="0"/>
              <a:ext cx="12191695" cy="73152"/>
            </a:xfrm>
            <a:prstGeom prst="rect">
              <a:avLst/>
            </a:prstGeom>
            <a:solidFill>
              <a:srgbClr val="E0B537"/>
            </a:solidFill>
            <a:ln>
              <a:solidFill>
                <a:srgbClr val="E0B53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Rectangle 1"/>
          <p:cNvSpPr/>
          <p:nvPr/>
        </p:nvSpPr>
        <p:spPr>
          <a:xfrm>
            <a:off x="502920" y="438912"/>
            <a:ext cx="73152" cy="411480"/>
          </a:xfrm>
          <a:prstGeom prst="rect">
            <a:avLst/>
          </a:prstGeom>
          <a:solidFill>
            <a:srgbClr val="E0B537"/>
          </a:solidFill>
          <a:ln>
            <a:solidFill>
              <a:srgbClr val="E0B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429768"/>
            <a:ext cx="38404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78FF9D"/>
                </a:solidFill>
                <a:latin typeface="Aptos"/>
              </a:defRPr>
            </a:pPr>
            <a:r>
              <a:t>06 • TEKNOLOGI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58952"/>
            <a:ext cx="1078992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1F5F0"/>
                </a:solidFill>
                <a:latin typeface="Aptos"/>
              </a:defRPr>
            </a:pPr>
            <a:r>
              <a:t>Arsitektur Teknis &amp; Verifikasi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10789920" cy="16459"/>
          </a:xfrm>
          <a:prstGeom prst="rect">
            <a:avLst/>
          </a:prstGeom>
          <a:solidFill>
            <a:srgbClr val="142C21"/>
          </a:solidFill>
          <a:ln>
            <a:solidFill>
              <a:srgbClr val="142C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7315200" cy="19697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800" b="1">
                <a:solidFill>
                  <a:srgbClr val="AEBFB4"/>
                </a:solidFill>
                <a:latin typeface="Aptos"/>
              </a:defRPr>
            </a:pPr>
            <a:r>
              <a:rPr dirty="0"/>
              <a:t>KARTIKA CYBER HACKATHON 2026  •  PUSSIBERAD</a:t>
            </a:r>
            <a:r>
              <a:rPr lang="en-US" dirty="0"/>
              <a:t>  </a:t>
            </a:r>
            <a:r>
              <a:rPr lang="id-ID" dirty="0"/>
              <a:t>•</a:t>
            </a:r>
            <a:r>
              <a:rPr lang="en-US" dirty="0"/>
              <a:t> CODEPOLITAN 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0972800" y="6464808"/>
            <a:ext cx="502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E0B537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783080"/>
            <a:ext cx="3429000" cy="1874519"/>
          </a:xfrm>
          <a:prstGeom prst="roundRect">
            <a:avLst/>
          </a:prstGeom>
          <a:solidFill>
            <a:srgbClr val="0E221A"/>
          </a:solidFill>
          <a:ln>
            <a:solidFill>
              <a:srgbClr val="142C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0292" cy="1874519"/>
          </a:xfrm>
          <a:prstGeom prst="rect">
            <a:avLst/>
          </a:prstGeom>
          <a:solidFill>
            <a:srgbClr val="48BE6F"/>
          </a:solidFill>
          <a:ln>
            <a:solidFill>
              <a:srgbClr val="48BE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8408" y="1938528"/>
            <a:ext cx="3044952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48BE6F"/>
                </a:solidFill>
                <a:latin typeface="Aptos"/>
              </a:defRPr>
            </a:pPr>
            <a:r>
              <a:t>RUNTIME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0008"/>
            <a:ext cx="3044952" cy="118871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1F5F0"/>
                </a:solidFill>
                <a:latin typeface="Aptos"/>
              </a:defRPr>
            </a:pPr>
            <a:r>
              <a:t>Node.js 22.5+</a:t>
            </a:r>
          </a:p>
          <a:p>
            <a:pPr>
              <a:spcAft>
                <a:spcPts val="700"/>
              </a:spcAft>
              <a:defRPr sz="1400" b="0">
                <a:solidFill>
                  <a:srgbClr val="F1F5F0"/>
                </a:solidFill>
                <a:latin typeface="Aptos"/>
              </a:defRPr>
            </a:pPr>
            <a:r>
              <a:t>Express 5 • EJS</a:t>
            </a:r>
          </a:p>
          <a:p>
            <a:pPr>
              <a:spcAft>
                <a:spcPts val="700"/>
              </a:spcAft>
              <a:defRPr sz="1400" b="0">
                <a:solidFill>
                  <a:srgbClr val="F1F5F0"/>
                </a:solidFill>
                <a:latin typeface="Aptos"/>
              </a:defRPr>
            </a:pPr>
            <a:r>
              <a:t>SQLite bawaan</a:t>
            </a:r>
          </a:p>
          <a:p>
            <a:pPr>
              <a:spcAft>
                <a:spcPts val="700"/>
              </a:spcAft>
              <a:defRPr sz="1400" b="0">
                <a:solidFill>
                  <a:srgbClr val="F1F5F0"/>
                </a:solidFill>
                <a:latin typeface="Aptos"/>
              </a:defRPr>
            </a:pPr>
            <a:r>
              <a:t>JavaScript tanpa bundler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783080"/>
            <a:ext cx="3429000" cy="1874519"/>
          </a:xfrm>
          <a:prstGeom prst="roundRect">
            <a:avLst/>
          </a:prstGeom>
          <a:solidFill>
            <a:srgbClr val="0E221A"/>
          </a:solidFill>
          <a:ln>
            <a:solidFill>
              <a:srgbClr val="142C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1783080"/>
            <a:ext cx="50292" cy="1874519"/>
          </a:xfrm>
          <a:prstGeom prst="rect">
            <a:avLst/>
          </a:prstGeom>
          <a:solidFill>
            <a:srgbClr val="E0B537"/>
          </a:solidFill>
          <a:ln>
            <a:solidFill>
              <a:srgbClr val="E0B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0288" y="1938528"/>
            <a:ext cx="3044952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E0B537"/>
                </a:solidFill>
                <a:latin typeface="Aptos"/>
              </a:defRPr>
            </a:pPr>
            <a:r>
              <a:t>PETA OFFLINE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350008"/>
            <a:ext cx="3044952" cy="118871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1F5F0"/>
                </a:solidFill>
                <a:latin typeface="Aptos"/>
              </a:defRPr>
            </a:pPr>
            <a:r>
              <a:t>Leaflet lokal</a:t>
            </a:r>
          </a:p>
          <a:p>
            <a:pPr>
              <a:spcAft>
                <a:spcPts val="700"/>
              </a:spcAft>
              <a:defRPr sz="1400" b="0">
                <a:solidFill>
                  <a:srgbClr val="F1F5F0"/>
                </a:solidFill>
                <a:latin typeface="Aptos"/>
              </a:defRPr>
            </a:pPr>
            <a:r>
              <a:t>GeoJSON provinsi</a:t>
            </a:r>
          </a:p>
          <a:p>
            <a:pPr>
              <a:spcAft>
                <a:spcPts val="700"/>
              </a:spcAft>
              <a:defRPr sz="1400" b="0">
                <a:solidFill>
                  <a:srgbClr val="F1F5F0"/>
                </a:solidFill>
                <a:latin typeface="Aptos"/>
              </a:defRPr>
            </a:pPr>
            <a:r>
              <a:t>Tanpa basemap tiles</a:t>
            </a:r>
          </a:p>
          <a:p>
            <a:pPr>
              <a:spcAft>
                <a:spcPts val="700"/>
              </a:spcAft>
              <a:defRPr sz="1400" b="0">
                <a:solidFill>
                  <a:srgbClr val="F1F5F0"/>
                </a:solidFill>
                <a:latin typeface="Aptos"/>
              </a:defRPr>
            </a:pPr>
            <a:r>
              <a:t>16 endpoint dummy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783080"/>
            <a:ext cx="3429000" cy="1874519"/>
          </a:xfrm>
          <a:prstGeom prst="roundRect">
            <a:avLst/>
          </a:prstGeom>
          <a:solidFill>
            <a:srgbClr val="0E221A"/>
          </a:solidFill>
          <a:ln>
            <a:solidFill>
              <a:srgbClr val="142C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01000" y="1783080"/>
            <a:ext cx="50292" cy="1874519"/>
          </a:xfrm>
          <a:prstGeom prst="rect">
            <a:avLst/>
          </a:prstGeom>
          <a:solidFill>
            <a:srgbClr val="78FF9D"/>
          </a:solidFill>
          <a:ln>
            <a:solidFill>
              <a:srgbClr val="78F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02168" y="1938528"/>
            <a:ext cx="3044952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78FF9D"/>
                </a:solidFill>
                <a:latin typeface="Aptos"/>
              </a:defRPr>
            </a:pPr>
            <a:r>
              <a:t>PENGUJIAN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2168" y="2350008"/>
            <a:ext cx="3044952" cy="118871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1F5F0"/>
                </a:solidFill>
                <a:latin typeface="Aptos"/>
              </a:defRPr>
            </a:pPr>
            <a:r>
              <a:t>`npm test`</a:t>
            </a:r>
          </a:p>
          <a:p>
            <a:pPr>
              <a:spcAft>
                <a:spcPts val="700"/>
              </a:spcAft>
              <a:defRPr sz="1400" b="0">
                <a:solidFill>
                  <a:srgbClr val="F1F5F0"/>
                </a:solidFill>
                <a:latin typeface="Aptos"/>
              </a:defRPr>
            </a:pPr>
            <a:r>
              <a:t>Rule engine</a:t>
            </a:r>
          </a:p>
          <a:p>
            <a:pPr>
              <a:spcAft>
                <a:spcPts val="700"/>
              </a:spcAft>
              <a:defRPr sz="1400" b="0">
                <a:solidFill>
                  <a:srgbClr val="F1F5F0"/>
                </a:solidFill>
                <a:latin typeface="Aptos"/>
              </a:defRPr>
            </a:pPr>
            <a:r>
              <a:t>Konsistensi inventory</a:t>
            </a:r>
          </a:p>
          <a:p>
            <a:pPr>
              <a:spcAft>
                <a:spcPts val="700"/>
              </a:spcAft>
              <a:defRPr sz="1400" b="0">
                <a:solidFill>
                  <a:srgbClr val="F1F5F0"/>
                </a:solidFill>
                <a:latin typeface="Aptos"/>
              </a:defRPr>
            </a:pPr>
            <a:r>
              <a:t>Pemeriksaan CSS vendor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251960"/>
            <a:ext cx="29260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E0B537"/>
                </a:solidFill>
                <a:latin typeface="Aptos"/>
              </a:defRPr>
            </a:pPr>
            <a:r>
              <a:t>Menjalankan demo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4709160"/>
            <a:ext cx="4754880" cy="713232"/>
          </a:xfrm>
          <a:prstGeom prst="roundRect">
            <a:avLst/>
          </a:prstGeom>
          <a:solidFill>
            <a:srgbClr val="142C21"/>
          </a:solidFill>
          <a:ln>
            <a:solidFill>
              <a:srgbClr val="48BE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51560" y="4928616"/>
            <a:ext cx="43891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F1F5F0"/>
                </a:solidFill>
                <a:latin typeface="Aptos"/>
              </a:defRPr>
            </a:pPr>
            <a:r>
              <a:t>npm install   →   npm test   →   npm start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4892040"/>
            <a:ext cx="512064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AEBFB4"/>
                </a:solidFill>
                <a:latin typeface="Aptos"/>
              </a:defRPr>
            </a:pPr>
            <a:r>
              <a:t>Default: http://localhost:3000  •  server bind ke 127.0.0.1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58F33122-865B-46D1-B5F2-820203F9C86A}"/>
              </a:ext>
            </a:extLst>
          </p:cNvPr>
          <p:cNvGrpSpPr/>
          <p:nvPr/>
        </p:nvGrpSpPr>
        <p:grpSpPr>
          <a:xfrm>
            <a:off x="-15240" y="0"/>
            <a:ext cx="12207240" cy="6858000"/>
            <a:chOff x="-15240" y="0"/>
            <a:chExt cx="12207240" cy="68580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B473D0F-7493-47D9-AFF9-22AD3865DE4E}"/>
                </a:ext>
              </a:extLst>
            </p:cNvPr>
            <p:cNvSpPr/>
            <p:nvPr/>
          </p:nvSpPr>
          <p:spPr>
            <a:xfrm>
              <a:off x="-15240" y="73152"/>
              <a:ext cx="12207240" cy="6784848"/>
            </a:xfrm>
            <a:prstGeom prst="rect">
              <a:avLst/>
            </a:prstGeom>
            <a:solidFill>
              <a:srgbClr val="07110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E3B72EC-9104-463A-BEF4-951AA0B2AE3C}"/>
                </a:ext>
              </a:extLst>
            </p:cNvPr>
            <p:cNvSpPr/>
            <p:nvPr/>
          </p:nvSpPr>
          <p:spPr>
            <a:xfrm>
              <a:off x="0" y="0"/>
              <a:ext cx="12191695" cy="73152"/>
            </a:xfrm>
            <a:prstGeom prst="rect">
              <a:avLst/>
            </a:prstGeom>
            <a:solidFill>
              <a:srgbClr val="E0B537"/>
            </a:solidFill>
            <a:ln>
              <a:solidFill>
                <a:srgbClr val="E0B53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Rectangle 1"/>
          <p:cNvSpPr/>
          <p:nvPr/>
        </p:nvSpPr>
        <p:spPr>
          <a:xfrm>
            <a:off x="502920" y="438912"/>
            <a:ext cx="73152" cy="411480"/>
          </a:xfrm>
          <a:prstGeom prst="rect">
            <a:avLst/>
          </a:prstGeom>
          <a:solidFill>
            <a:srgbClr val="E0B537"/>
          </a:solidFill>
          <a:ln>
            <a:solidFill>
              <a:srgbClr val="E0B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429768"/>
            <a:ext cx="38404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78FF9D"/>
                </a:solidFill>
                <a:latin typeface="Aptos"/>
              </a:defRPr>
            </a:pPr>
            <a:r>
              <a:t>07 • BATASAN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58952"/>
            <a:ext cx="1078992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1F5F0"/>
                </a:solidFill>
                <a:latin typeface="Aptos"/>
              </a:defRPr>
            </a:pPr>
            <a:r>
              <a:t>Keamanan, Batasan, dan Integritas Klaim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10789920" cy="16459"/>
          </a:xfrm>
          <a:prstGeom prst="rect">
            <a:avLst/>
          </a:prstGeom>
          <a:solidFill>
            <a:srgbClr val="142C21"/>
          </a:solidFill>
          <a:ln>
            <a:solidFill>
              <a:srgbClr val="142C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0" y="6464808"/>
            <a:ext cx="502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E0B537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783080"/>
            <a:ext cx="5074920" cy="1828800"/>
          </a:xfrm>
          <a:prstGeom prst="roundRect">
            <a:avLst/>
          </a:prstGeom>
          <a:solidFill>
            <a:srgbClr val="0E221A"/>
          </a:solidFill>
          <a:ln>
            <a:solidFill>
              <a:srgbClr val="142C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0292" cy="1828800"/>
          </a:xfrm>
          <a:prstGeom prst="rect">
            <a:avLst/>
          </a:prstGeom>
          <a:solidFill>
            <a:srgbClr val="E0B537"/>
          </a:solidFill>
          <a:ln>
            <a:solidFill>
              <a:srgbClr val="E0B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8408" y="1938528"/>
            <a:ext cx="4690872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E0B537"/>
                </a:solidFill>
                <a:latin typeface="Aptos"/>
              </a:defRPr>
            </a:pPr>
            <a:r>
              <a:t>YANG DISIMULASIKAN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0008"/>
            <a:ext cx="4690872" cy="11430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1F5F0"/>
                </a:solidFill>
                <a:latin typeface="Aptos"/>
              </a:defRPr>
            </a:pPr>
            <a:r>
              <a:t>Target, koordinat, status, latensi, HTTP/TLS, event, dan profil asal penyerang adalah data sintetis.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783080"/>
            <a:ext cx="5074920" cy="1828800"/>
          </a:xfrm>
          <a:prstGeom prst="roundRect">
            <a:avLst/>
          </a:prstGeom>
          <a:solidFill>
            <a:srgbClr val="0E221A"/>
          </a:solidFill>
          <a:ln>
            <a:solidFill>
              <a:srgbClr val="142C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783080"/>
            <a:ext cx="50292" cy="1828800"/>
          </a:xfrm>
          <a:prstGeom prst="rect">
            <a:avLst/>
          </a:prstGeom>
          <a:solidFill>
            <a:srgbClr val="48BE6F"/>
          </a:solidFill>
          <a:ln>
            <a:solidFill>
              <a:srgbClr val="48BE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19088" y="1938528"/>
            <a:ext cx="4690872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48BE6F"/>
                </a:solidFill>
                <a:latin typeface="Aptos"/>
              </a:defRPr>
            </a:pPr>
            <a:r>
              <a:t>YANG TIDAK DILAKUKAN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350008"/>
            <a:ext cx="4690872" cy="11430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1F5F0"/>
                </a:solidFill>
                <a:latin typeface="Aptos"/>
              </a:defRPr>
            </a:pPr>
            <a:r>
              <a:t>Tidak ada DNS lookup, HTTP probe, scanning, pemblokiran, atau perubahan perangkat/jaringan.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160520"/>
            <a:ext cx="29260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78FF9D"/>
                </a:solidFill>
                <a:latin typeface="Aptos"/>
              </a:defRPr>
            </a:pPr>
            <a:r>
              <a:t>Prinsip pengamanan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553712"/>
            <a:ext cx="10058400" cy="1371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1F5F0"/>
                </a:solidFill>
                <a:latin typeface="Aptos"/>
              </a:defRPr>
            </a:pPr>
            <a:r>
              <a:t>•  Human oversight untuk tindakan berisiko</a:t>
            </a:r>
          </a:p>
          <a:p>
            <a:pPr>
              <a:spcAft>
                <a:spcPts val="700"/>
              </a:spcAft>
              <a:defRPr sz="1500">
                <a:solidFill>
                  <a:srgbClr val="F1F5F0"/>
                </a:solidFill>
                <a:latin typeface="Aptos"/>
              </a:defRPr>
            </a:pPr>
            <a:r>
              <a:t>•  Audit trail untuk perubahan status</a:t>
            </a:r>
          </a:p>
          <a:p>
            <a:pPr>
              <a:spcAft>
                <a:spcPts val="700"/>
              </a:spcAft>
              <a:defRPr sz="1500">
                <a:solidFill>
                  <a:srgbClr val="F1F5F0"/>
                </a:solidFill>
                <a:latin typeface="Aptos"/>
              </a:defRPr>
            </a:pPr>
            <a:r>
              <a:t>•  Data sintetis bukan bukti insiden nyata</a:t>
            </a:r>
          </a:p>
          <a:p>
            <a:pPr>
              <a:spcAft>
                <a:spcPts val="700"/>
              </a:spcAft>
              <a:defRPr sz="1500">
                <a:solidFill>
                  <a:srgbClr val="F1F5F0"/>
                </a:solidFill>
                <a:latin typeface="Aptos"/>
              </a:defRPr>
            </a:pPr>
            <a:r>
              <a:t>•  Belum memiliki autentikasi/otorisasi produksi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FCC7E8-EC81-48C1-A957-5ABC456F1894}"/>
              </a:ext>
            </a:extLst>
          </p:cNvPr>
          <p:cNvSpPr txBox="1"/>
          <p:nvPr/>
        </p:nvSpPr>
        <p:spPr>
          <a:xfrm>
            <a:off x="685800" y="6510528"/>
            <a:ext cx="7315200" cy="19697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800" b="1">
                <a:solidFill>
                  <a:srgbClr val="AEBFB4"/>
                </a:solidFill>
                <a:latin typeface="Aptos"/>
              </a:defRPr>
            </a:pPr>
            <a:r>
              <a:rPr dirty="0"/>
              <a:t>KARTIKA CYBER HACKATHON 2026  •  PUSSIBERAD</a:t>
            </a:r>
            <a:r>
              <a:rPr lang="en-US" dirty="0"/>
              <a:t>  </a:t>
            </a:r>
            <a:r>
              <a:rPr lang="id-ID" dirty="0"/>
              <a:t>•</a:t>
            </a:r>
            <a:r>
              <a:rPr lang="en-US" dirty="0"/>
              <a:t> CODEPOLITAN 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48BAA527-387C-4629-A92B-FE944819A960}"/>
              </a:ext>
            </a:extLst>
          </p:cNvPr>
          <p:cNvGrpSpPr/>
          <p:nvPr/>
        </p:nvGrpSpPr>
        <p:grpSpPr>
          <a:xfrm>
            <a:off x="-15240" y="0"/>
            <a:ext cx="12207240" cy="6858000"/>
            <a:chOff x="-15240" y="0"/>
            <a:chExt cx="12207240" cy="685800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594DEB6-2AA6-4E2C-B3BD-881D2D4B00FA}"/>
                </a:ext>
              </a:extLst>
            </p:cNvPr>
            <p:cNvSpPr/>
            <p:nvPr/>
          </p:nvSpPr>
          <p:spPr>
            <a:xfrm>
              <a:off x="-15240" y="73152"/>
              <a:ext cx="12207240" cy="6784848"/>
            </a:xfrm>
            <a:prstGeom prst="rect">
              <a:avLst/>
            </a:prstGeom>
            <a:solidFill>
              <a:srgbClr val="07110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A41CC0B-D6A1-47AF-835D-0F107118D00B}"/>
                </a:ext>
              </a:extLst>
            </p:cNvPr>
            <p:cNvSpPr/>
            <p:nvPr/>
          </p:nvSpPr>
          <p:spPr>
            <a:xfrm>
              <a:off x="0" y="0"/>
              <a:ext cx="12191695" cy="73152"/>
            </a:xfrm>
            <a:prstGeom prst="rect">
              <a:avLst/>
            </a:prstGeom>
            <a:solidFill>
              <a:srgbClr val="E0B537"/>
            </a:solidFill>
            <a:ln>
              <a:solidFill>
                <a:srgbClr val="E0B53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Rectangle 1"/>
          <p:cNvSpPr/>
          <p:nvPr/>
        </p:nvSpPr>
        <p:spPr>
          <a:xfrm>
            <a:off x="502920" y="438912"/>
            <a:ext cx="73152" cy="411480"/>
          </a:xfrm>
          <a:prstGeom prst="rect">
            <a:avLst/>
          </a:prstGeom>
          <a:solidFill>
            <a:srgbClr val="E0B537"/>
          </a:solidFill>
          <a:ln>
            <a:solidFill>
              <a:srgbClr val="E0B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429768"/>
            <a:ext cx="38404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78FF9D"/>
                </a:solidFill>
                <a:latin typeface="Aptos"/>
              </a:defRPr>
            </a:pPr>
            <a:r>
              <a:t>08 •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58952"/>
            <a:ext cx="1078992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1F5F0"/>
                </a:solidFill>
                <a:latin typeface="Aptos"/>
              </a:defRPr>
            </a:pPr>
            <a:r>
              <a:t>Dari Prototipe Menuju Validasi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10789920" cy="16459"/>
          </a:xfrm>
          <a:prstGeom prst="rect">
            <a:avLst/>
          </a:prstGeom>
          <a:solidFill>
            <a:srgbClr val="142C21"/>
          </a:solidFill>
          <a:ln>
            <a:solidFill>
              <a:srgbClr val="142C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0" y="6464808"/>
            <a:ext cx="502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E0B537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965960"/>
            <a:ext cx="3429000" cy="1954988"/>
          </a:xfrm>
          <a:prstGeom prst="roundRect">
            <a:avLst/>
          </a:prstGeom>
          <a:solidFill>
            <a:srgbClr val="0E221A"/>
          </a:solidFill>
          <a:ln>
            <a:solidFill>
              <a:srgbClr val="142C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 flipH="1">
            <a:off x="777241" y="1965960"/>
            <a:ext cx="45719" cy="1954988"/>
          </a:xfrm>
          <a:prstGeom prst="rect">
            <a:avLst/>
          </a:prstGeom>
          <a:solidFill>
            <a:srgbClr val="48BE6F"/>
          </a:solidFill>
          <a:ln>
            <a:solidFill>
              <a:srgbClr val="48BE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2121408"/>
            <a:ext cx="3044952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48BE6F"/>
                </a:solidFill>
                <a:latin typeface="Aptos"/>
              </a:defRPr>
            </a:pPr>
            <a:r>
              <a:t>TAHAP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532888"/>
            <a:ext cx="3044952" cy="1691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F1F5F0"/>
                </a:solidFill>
                <a:latin typeface="Aptos"/>
              </a:defRPr>
            </a:pPr>
            <a:r>
              <a:t>PROTOTYPE</a:t>
            </a:r>
          </a:p>
          <a:p>
            <a:pPr>
              <a:spcAft>
                <a:spcPts val="700"/>
              </a:spcAft>
              <a:defRPr sz="1300" b="0">
                <a:solidFill>
                  <a:srgbClr val="F1F5F0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300" b="0">
                <a:solidFill>
                  <a:srgbClr val="F1F5F0"/>
                </a:solidFill>
                <a:latin typeface="Aptos"/>
              </a:defRPr>
            </a:pPr>
            <a:r>
              <a:t>Event sintetis • rule engine • dashboard • simulasi insiden • audit.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79392" y="2880360"/>
            <a:ext cx="3200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2400" b="1">
                <a:solidFill>
                  <a:srgbClr val="E0B53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17720" y="1965960"/>
            <a:ext cx="3429000" cy="1953160"/>
          </a:xfrm>
          <a:prstGeom prst="roundRect">
            <a:avLst/>
          </a:prstGeom>
          <a:solidFill>
            <a:srgbClr val="0E221A"/>
          </a:solidFill>
          <a:ln>
            <a:solidFill>
              <a:srgbClr val="142C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 flipH="1">
            <a:off x="4572001" y="1965960"/>
            <a:ext cx="45719" cy="1954988"/>
          </a:xfrm>
          <a:prstGeom prst="rect">
            <a:avLst/>
          </a:prstGeom>
          <a:solidFill>
            <a:srgbClr val="E0B537"/>
          </a:solidFill>
          <a:ln>
            <a:solidFill>
              <a:srgbClr val="E0B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18888" y="2121408"/>
            <a:ext cx="3044952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E0B537"/>
                </a:solidFill>
                <a:latin typeface="Aptos"/>
              </a:defRPr>
            </a:pPr>
            <a:r>
              <a:t>TAHAP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18888" y="2532888"/>
            <a:ext cx="3044952" cy="1691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F1F5F0"/>
                </a:solidFill>
                <a:latin typeface="Aptos"/>
              </a:defRPr>
            </a:pPr>
            <a:r>
              <a:t>INTEGRASI</a:t>
            </a:r>
          </a:p>
          <a:p>
            <a:pPr>
              <a:spcAft>
                <a:spcPts val="700"/>
              </a:spcAft>
              <a:defRPr sz="1300" b="0">
                <a:solidFill>
                  <a:srgbClr val="F1F5F0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300" b="0">
                <a:solidFill>
                  <a:srgbClr val="F1F5F0"/>
                </a:solidFill>
                <a:latin typeface="Aptos"/>
              </a:defRPr>
            </a:pPr>
            <a:r>
              <a:t>Log/telemetri terotorisasi • sumber IOC • korelasi • playbook dengan persetujuan.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74152" y="2880360"/>
            <a:ext cx="3200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2400" b="1">
                <a:solidFill>
                  <a:srgbClr val="E0B53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0" y="1965960"/>
            <a:ext cx="3429000" cy="1953160"/>
          </a:xfrm>
          <a:prstGeom prst="roundRect">
            <a:avLst/>
          </a:prstGeom>
          <a:solidFill>
            <a:srgbClr val="0E221A"/>
          </a:solidFill>
          <a:ln>
            <a:solidFill>
              <a:srgbClr val="142C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 flipH="1">
            <a:off x="8366761" y="1965960"/>
            <a:ext cx="45719" cy="1954988"/>
          </a:xfrm>
          <a:prstGeom prst="rect">
            <a:avLst/>
          </a:prstGeom>
          <a:solidFill>
            <a:srgbClr val="78FF9D"/>
          </a:solidFill>
          <a:ln>
            <a:solidFill>
              <a:srgbClr val="78F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13648" y="2121408"/>
            <a:ext cx="3044952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78FF9D"/>
                </a:solidFill>
                <a:latin typeface="Aptos"/>
              </a:defRPr>
            </a:pPr>
            <a:r>
              <a:t>TAHAP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13648" y="2532888"/>
            <a:ext cx="3044952" cy="1691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F1F5F0"/>
                </a:solidFill>
                <a:latin typeface="Aptos"/>
              </a:defRPr>
            </a:pPr>
            <a:r>
              <a:t>VALIDASI</a:t>
            </a:r>
          </a:p>
          <a:p>
            <a:pPr>
              <a:spcAft>
                <a:spcPts val="700"/>
              </a:spcAft>
              <a:defRPr sz="1300" b="0">
                <a:solidFill>
                  <a:srgbClr val="F1F5F0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300" b="0">
                <a:solidFill>
                  <a:srgbClr val="F1F5F0"/>
                </a:solidFill>
                <a:latin typeface="Aptos"/>
              </a:defRPr>
            </a:pPr>
            <a:r>
              <a:t>Uji keamanan/keandalan • evaluasi false positive/negative • akses &amp; audit • pemulihan.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074920"/>
            <a:ext cx="1033272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1F5F0"/>
                </a:solidFill>
                <a:latin typeface="Aptos"/>
              </a:defRPr>
            </a:pPr>
            <a:r>
              <a:t>Syarat sebelum integrasi nyata: otorisasi pemilik aset, kontrol akses, pengujian terisolasi, dan kajian keselamatan IT/OT.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0A61FD4-705D-4076-BD61-FF30E518A39F}"/>
              </a:ext>
            </a:extLst>
          </p:cNvPr>
          <p:cNvSpPr txBox="1"/>
          <p:nvPr/>
        </p:nvSpPr>
        <p:spPr>
          <a:xfrm>
            <a:off x="685800" y="6510528"/>
            <a:ext cx="7315200" cy="19697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800" b="1">
                <a:solidFill>
                  <a:srgbClr val="AEBFB4"/>
                </a:solidFill>
                <a:latin typeface="Aptos"/>
              </a:defRPr>
            </a:pPr>
            <a:r>
              <a:rPr dirty="0"/>
              <a:t>KARTIKA CYBER HACKATHON 2026  •  PUSSIBERAD</a:t>
            </a:r>
            <a:r>
              <a:rPr lang="en-US" dirty="0"/>
              <a:t>  </a:t>
            </a:r>
            <a:r>
              <a:rPr lang="id-ID" dirty="0"/>
              <a:t>•</a:t>
            </a:r>
            <a:r>
              <a:rPr lang="en-US" dirty="0"/>
              <a:t> CODEPOLITAN 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9CA54132-7C5A-4FF4-9942-75F0BE1FE7B1}"/>
              </a:ext>
            </a:extLst>
          </p:cNvPr>
          <p:cNvGrpSpPr/>
          <p:nvPr/>
        </p:nvGrpSpPr>
        <p:grpSpPr>
          <a:xfrm>
            <a:off x="-15240" y="0"/>
            <a:ext cx="12207240" cy="6858000"/>
            <a:chOff x="-15240" y="0"/>
            <a:chExt cx="12207240" cy="685800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9D80051-6CA8-4644-B922-8A9EECC16842}"/>
                </a:ext>
              </a:extLst>
            </p:cNvPr>
            <p:cNvSpPr/>
            <p:nvPr/>
          </p:nvSpPr>
          <p:spPr>
            <a:xfrm>
              <a:off x="-15240" y="73152"/>
              <a:ext cx="12207240" cy="6784848"/>
            </a:xfrm>
            <a:prstGeom prst="rect">
              <a:avLst/>
            </a:prstGeom>
            <a:solidFill>
              <a:srgbClr val="07110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38C4919-C6AF-4840-9641-01089D804679}"/>
                </a:ext>
              </a:extLst>
            </p:cNvPr>
            <p:cNvSpPr/>
            <p:nvPr/>
          </p:nvSpPr>
          <p:spPr>
            <a:xfrm>
              <a:off x="0" y="0"/>
              <a:ext cx="12191695" cy="73152"/>
            </a:xfrm>
            <a:prstGeom prst="rect">
              <a:avLst/>
            </a:prstGeom>
            <a:solidFill>
              <a:srgbClr val="E0B537"/>
            </a:solidFill>
            <a:ln>
              <a:solidFill>
                <a:srgbClr val="E0B53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B537"/>
          </a:solidFill>
          <a:ln>
            <a:solidFill>
              <a:srgbClr val="E0B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959353" y="2625316"/>
            <a:ext cx="4242814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E0B537"/>
                </a:solidFill>
                <a:latin typeface="Aptos"/>
              </a:defRPr>
            </a:pPr>
            <a:r>
              <a:rPr dirty="0"/>
              <a:t>KARTIKA CYBER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33800" y="2827020"/>
            <a:ext cx="4693920" cy="81253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4000" b="1">
                <a:solidFill>
                  <a:srgbClr val="78FF9D"/>
                </a:solidFill>
                <a:latin typeface="Aptos"/>
              </a:defRPr>
            </a:pPr>
            <a:r>
              <a:rPr sz="4800" dirty="0"/>
              <a:t>GARUDA SHIELD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89020"/>
            <a:ext cx="105156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2000" b="1">
                <a:solidFill>
                  <a:srgbClr val="F1F5F0"/>
                </a:solidFill>
                <a:latin typeface="Aptos"/>
              </a:defRPr>
            </a:pPr>
            <a:r>
              <a:rPr dirty="0" err="1"/>
              <a:t>Deteksi</a:t>
            </a:r>
            <a:r>
              <a:rPr dirty="0"/>
              <a:t> • </a:t>
            </a:r>
            <a:r>
              <a:rPr dirty="0" err="1"/>
              <a:t>Analisis</a:t>
            </a:r>
            <a:r>
              <a:rPr dirty="0"/>
              <a:t> • </a:t>
            </a:r>
            <a:r>
              <a:rPr dirty="0" err="1"/>
              <a:t>Respons</a:t>
            </a:r>
            <a:r>
              <a:rPr dirty="0"/>
              <a:t> • Audit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4198619"/>
            <a:ext cx="3246120" cy="914400"/>
          </a:xfrm>
          <a:prstGeom prst="roundRect">
            <a:avLst/>
          </a:prstGeom>
          <a:solidFill>
            <a:srgbClr val="0E221A"/>
          </a:solidFill>
          <a:ln>
            <a:solidFill>
              <a:srgbClr val="142C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8408" y="4399788"/>
            <a:ext cx="30175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E0B537"/>
                </a:solidFill>
                <a:latin typeface="Aptos"/>
              </a:defRPr>
            </a:pPr>
            <a:r>
              <a:t>DEFENSE IN DEPTH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4728972"/>
            <a:ext cx="30175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AEBFB4"/>
                </a:solidFill>
                <a:latin typeface="Aptos"/>
              </a:defRPr>
            </a:pPr>
            <a:r>
              <a:t>Pertahanan berlapis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4198619"/>
            <a:ext cx="3246120" cy="914400"/>
          </a:xfrm>
          <a:prstGeom prst="roundRect">
            <a:avLst/>
          </a:prstGeom>
          <a:solidFill>
            <a:srgbClr val="0E221A"/>
          </a:solidFill>
          <a:ln>
            <a:solidFill>
              <a:srgbClr val="142C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0288" y="4399788"/>
            <a:ext cx="30175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E0B537"/>
                </a:solidFill>
                <a:latin typeface="Aptos"/>
              </a:defRPr>
            </a:pPr>
            <a:r>
              <a:t>HUMAN OVERSIGHT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4728972"/>
            <a:ext cx="30175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AEBFB4"/>
                </a:solidFill>
                <a:latin typeface="Aptos"/>
              </a:defRPr>
            </a:pPr>
            <a:r>
              <a:t>Keputusan tetap terkontrol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4198619"/>
            <a:ext cx="3246120" cy="914400"/>
          </a:xfrm>
          <a:prstGeom prst="roundRect">
            <a:avLst/>
          </a:prstGeom>
          <a:solidFill>
            <a:srgbClr val="0E221A"/>
          </a:solidFill>
          <a:ln>
            <a:solidFill>
              <a:srgbClr val="142C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02167" y="4399788"/>
            <a:ext cx="30175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E0B537"/>
                </a:solidFill>
                <a:latin typeface="Aptos"/>
              </a:defRPr>
            </a:pPr>
            <a:r>
              <a:t>EVIDENCE-BASED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2167" y="4728972"/>
            <a:ext cx="30175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AEBFB4"/>
                </a:solidFill>
                <a:latin typeface="Aptos"/>
              </a:defRPr>
            </a:pPr>
            <a:r>
              <a:t>Klaim berdasarkan bukti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303520"/>
            <a:ext cx="10515600" cy="6894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2500" b="1">
                <a:solidFill>
                  <a:srgbClr val="F1F5F0"/>
                </a:solidFill>
                <a:latin typeface="Aptos"/>
              </a:defRPr>
            </a:pPr>
            <a:r>
              <a:rPr sz="4000" dirty="0"/>
              <a:t>TERIMA KASIH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989320"/>
            <a:ext cx="10515600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AEBFB4"/>
                </a:solidFill>
                <a:latin typeface="Aptos"/>
              </a:defRPr>
            </a:pPr>
            <a:r>
              <a:rPr sz="1400" b="1" dirty="0"/>
              <a:t>Cyber Community  •  </a:t>
            </a:r>
            <a:r>
              <a:rPr sz="1400" b="1" dirty="0" err="1"/>
              <a:t>Fitria</a:t>
            </a:r>
            <a:r>
              <a:rPr sz="1400" b="1" dirty="0"/>
              <a:t> </a:t>
            </a:r>
            <a:r>
              <a:rPr sz="1400" b="1" dirty="0" err="1"/>
              <a:t>Khasanan</a:t>
            </a:r>
            <a:r>
              <a:rPr sz="1400" b="1" dirty="0"/>
              <a:t>  •  Basuki </a:t>
            </a:r>
            <a:r>
              <a:rPr sz="1400" b="1" dirty="0" err="1"/>
              <a:t>Rahmat</a:t>
            </a:r>
            <a:r>
              <a:rPr sz="1400" b="1" dirty="0"/>
              <a:t>  •  Frida </a:t>
            </a:r>
            <a:r>
              <a:rPr sz="1400" b="1" dirty="0" err="1"/>
              <a:t>Panjaitan</a:t>
            </a:r>
            <a:endParaRPr sz="1400" b="1" dirty="0"/>
          </a:p>
        </p:txBody>
      </p:sp>
      <p:pic>
        <p:nvPicPr>
          <p:cNvPr id="22" name="Picture 21" descr="image(1).png">
            <a:extLst>
              <a:ext uri="{FF2B5EF4-FFF2-40B4-BE49-F238E27FC236}">
                <a16:creationId xmlns:a16="http://schemas.microsoft.com/office/drawing/2014/main" id="{05742826-6378-48DF-9D00-854DC4DCBB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0" r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49240" y="421494"/>
            <a:ext cx="1508760" cy="1986386"/>
          </a:xfrm>
          <a:prstGeom prst="roundRect">
            <a:avLst>
              <a:gd name="adj" fmla="val 8712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1081</Words>
  <Application>Microsoft Office PowerPoint</Application>
  <PresentationFormat>Widescreen</PresentationFormat>
  <Paragraphs>171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BASUKI RAHMAT</cp:lastModifiedBy>
  <cp:revision>18</cp:revision>
  <dcterms:created xsi:type="dcterms:W3CDTF">2013-01-27T09:14:16Z</dcterms:created>
  <dcterms:modified xsi:type="dcterms:W3CDTF">2026-10-21T12:28:28Z</dcterms:modified>
  <cp:category/>
</cp:coreProperties>
</file>